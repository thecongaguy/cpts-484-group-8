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84" r:id="rId2"/>
    <p:sldId id="285" r:id="rId3"/>
    <p:sldId id="265" r:id="rId4"/>
    <p:sldId id="280" r:id="rId5"/>
    <p:sldId id="286" r:id="rId6"/>
    <p:sldId id="287" r:id="rId7"/>
    <p:sldId id="288" r:id="rId8"/>
    <p:sldId id="289" r:id="rId9"/>
    <p:sldId id="290" r:id="rId10"/>
    <p:sldId id="291" r:id="rId11"/>
    <p:sldId id="283" r:id="rId12"/>
    <p:sldId id="292" r:id="rId13"/>
    <p:sldId id="293" r:id="rId14"/>
    <p:sldId id="294" r:id="rId15"/>
    <p:sldId id="29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302" autoAdjust="0"/>
  </p:normalViewPr>
  <p:slideViewPr>
    <p:cSldViewPr snapToGrid="0">
      <p:cViewPr varScale="1">
        <p:scale>
          <a:sx n="87" d="100"/>
          <a:sy n="87" d="100"/>
        </p:scale>
        <p:origin x="66" y="8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eng, Bolong" userId="5fb33691-3244-4faf-b53b-93284bd7c54c" providerId="ADAL" clId="{9D2A3691-D562-48E3-B4A9-FA56BAB969CF}"/>
    <pc:docChg chg="custSel addSld modSld">
      <pc:chgData name="Zeng, Bolong" userId="5fb33691-3244-4faf-b53b-93284bd7c54c" providerId="ADAL" clId="{9D2A3691-D562-48E3-B4A9-FA56BAB969CF}" dt="2026-08-17T23:25:25.424" v="954" actId="20577"/>
      <pc:docMkLst>
        <pc:docMk/>
      </pc:docMkLst>
      <pc:sldChg chg="modSp mod">
        <pc:chgData name="Zeng, Bolong" userId="5fb33691-3244-4faf-b53b-93284bd7c54c" providerId="ADAL" clId="{9D2A3691-D562-48E3-B4A9-FA56BAB969CF}" dt="2026-08-17T23:09:20.245" v="71" actId="20577"/>
        <pc:sldMkLst>
          <pc:docMk/>
          <pc:sldMk cId="3023492326" sldId="265"/>
        </pc:sldMkLst>
        <pc:spChg chg="mod">
          <ac:chgData name="Zeng, Bolong" userId="5fb33691-3244-4faf-b53b-93284bd7c54c" providerId="ADAL" clId="{9D2A3691-D562-48E3-B4A9-FA56BAB969CF}" dt="2026-08-17T23:09:20.245" v="71" actId="20577"/>
          <ac:spMkLst>
            <pc:docMk/>
            <pc:sldMk cId="3023492326" sldId="265"/>
            <ac:spMk id="11" creationId="{00000000-0000-0000-0000-000000000000}"/>
          </ac:spMkLst>
        </pc:spChg>
      </pc:sldChg>
      <pc:sldChg chg="modSp mod">
        <pc:chgData name="Zeng, Bolong" userId="5fb33691-3244-4faf-b53b-93284bd7c54c" providerId="ADAL" clId="{9D2A3691-D562-48E3-B4A9-FA56BAB969CF}" dt="2026-08-17T23:10:59.854" v="293" actId="20577"/>
        <pc:sldMkLst>
          <pc:docMk/>
          <pc:sldMk cId="3582441262" sldId="280"/>
        </pc:sldMkLst>
        <pc:spChg chg="mod">
          <ac:chgData name="Zeng, Bolong" userId="5fb33691-3244-4faf-b53b-93284bd7c54c" providerId="ADAL" clId="{9D2A3691-D562-48E3-B4A9-FA56BAB969CF}" dt="2026-08-17T23:10:59.854" v="293" actId="20577"/>
          <ac:spMkLst>
            <pc:docMk/>
            <pc:sldMk cId="3582441262" sldId="280"/>
            <ac:spMk id="25" creationId="{00000000-0000-0000-0000-000000000000}"/>
          </ac:spMkLst>
        </pc:spChg>
      </pc:sldChg>
      <pc:sldChg chg="modSp mod">
        <pc:chgData name="Zeng, Bolong" userId="5fb33691-3244-4faf-b53b-93284bd7c54c" providerId="ADAL" clId="{9D2A3691-D562-48E3-B4A9-FA56BAB969CF}" dt="2026-08-17T23:25:25.424" v="954" actId="20577"/>
        <pc:sldMkLst>
          <pc:docMk/>
          <pc:sldMk cId="395913222" sldId="283"/>
        </pc:sldMkLst>
        <pc:spChg chg="mod">
          <ac:chgData name="Zeng, Bolong" userId="5fb33691-3244-4faf-b53b-93284bd7c54c" providerId="ADAL" clId="{9D2A3691-D562-48E3-B4A9-FA56BAB969CF}" dt="2026-08-17T23:25:25.424" v="954" actId="20577"/>
          <ac:spMkLst>
            <pc:docMk/>
            <pc:sldMk cId="395913222" sldId="283"/>
            <ac:spMk id="4" creationId="{CA077796-0C99-4A05-86E9-E608F3560883}"/>
          </ac:spMkLst>
        </pc:spChg>
      </pc:sldChg>
      <pc:sldChg chg="addSp modSp new mod">
        <pc:chgData name="Zeng, Bolong" userId="5fb33691-3244-4faf-b53b-93284bd7c54c" providerId="ADAL" clId="{9D2A3691-D562-48E3-B4A9-FA56BAB969CF}" dt="2026-08-17T23:24:55.903" v="900" actId="20577"/>
        <pc:sldMkLst>
          <pc:docMk/>
          <pc:sldMk cId="2111641846" sldId="285"/>
        </pc:sldMkLst>
        <pc:spChg chg="add mod">
          <ac:chgData name="Zeng, Bolong" userId="5fb33691-3244-4faf-b53b-93284bd7c54c" providerId="ADAL" clId="{9D2A3691-D562-48E3-B4A9-FA56BAB969CF}" dt="2026-08-17T23:24:55.903" v="900" actId="20577"/>
          <ac:spMkLst>
            <pc:docMk/>
            <pc:sldMk cId="2111641846" sldId="285"/>
            <ac:spMk id="3" creationId="{C78BCB4B-3E01-C2DF-E355-5735D1CFF23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2212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 we're Group 8. This is our Phase I presentation for Project THEIA, a phone app that helps blind and visually impaired people find their way around inside buildings, including buildings with more than one floor and buildings that connect to each other. You use it by voice or with the phone's screen reader, so you never have to read the screen. We'll go through our four AS-IS and TO-BE scenario pairs, then a Lesson 6 analysis of the scenario we think matters most, and then compare THEIA with what blind travelers use now. The app works the same way in every scenario as it does in our WRS, and we'll mention requirement numbers as we go.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table lists our four scenario pairs. They all use the same person, Stevie, who's a blind student. Pair one is basic navigation from one room to another. Pair two is about a cart left in the hallway. Pair three covers falls. THEIA can alert a caretaker Stevie has approved, so that one helps the caretaker too. Pair four is schedule reminders, which Stevie has to turn on himself. For each pair we'll show what Stevie does now without the app and then what changes with THEIA.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Pair one is the scenario the course gave us. Stevie is walking to class. He knows he has to go a few steps and then turn left, but he can't tell exactly where the turn is. He guesses, turns too early, and hits his head on the wall. He makes trips like this several times a day, and a mistake can get him hurt, so this is the one we picked as top priority for the analysis later.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THEIA, the app asks Stevie where he is and where he's going, works out a route, and tells him to walk ahead ten steps and turn left. We kept this text the way the course wrote it. In our WRS, entering the destination by voice is FR03, confirming the starting point before a route is calculated is FR05, choosing between routes is FR07, and the spoken turn instructions are FR08. The course version doesn't say how THEIA knows Stevie actually reached the turn, and it never confirms where he started. We look at both of those in the Lesson 6 analysis.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Pair two is about obstacles. Stevie is walking down a hallway he uses every day. Someone left a maintenance cart in the hall overnight, and his cane finds it too late, so he walks right into the handle. Knowing the route didn't help, because the cart wasn't there yesterday.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THEIA, Stevie has route guidance on and his phone camera pointed ahead. When the detector picks up something stationary in front of him, THEIA cuts in with a spoken warning and a vibration that feel different from a normal turn instruction. Our WRS covers the warning in FR13, and NFR05 says the alert types have to be easy to tell apart. THEIA tells him to stop and offers another mapped route or help, which is FR14. It won't tell him to step left or right, because the phone can't check whether that's safe. Stevie takes the other route and keeps going. FR12 describes how we test detection, using a wall section, a maintenance cart and an open locker door.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Pair three is about falling. Stevie is by himself in a stairwell and falls hard. He's dazed, his phone slid out of reach, and even after he finds it he can't easily say where in the building he is. His mom usually helps him, but she doesn't hear about it until much later. Falls don't happen often, but when one does, the time before anyone finds out is what makes it dangerous.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any of this, Stevie went through setup and gave his mom permission to get fall alerts. That's in FR18, and he can take the permission back whenever he wants. When the phone detects what looks like a hard fall, THEIA starts a 15-second spoken countdown he can cancel, in case he just dropped the phone. He's too dazed to answer, so when time runs out THEIA sends his mom an alert with the last location he confirmed. That part is FR16, and nothing gets sent before the countdown finishes. Then THEIA tells Stevie whether the alert went through, failed, or hasn't been confirmed yet. If it failed, it offers the emergency call option. Those are FR17 and FR15. THEIA doesn't track him the whole time. It only sends the last spot he confirmed.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Pair four is about schedules. When a new semester starts, all of Stevie's classes change rooms and times. He has to keep the times in his head and figure out each new route on his own. Early in the semester he loses track of the time, leaves late, has trouble finding a room he hasn't been to, and gets to class late. Nobody gets hurt, but it happens every time his schedule changes.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Schedule suggestions in THEIA start out turned off. Stevie switches them on and enters his class times and rooms himself, which is FR19. When it's time to leave, THEIA tells him his next class and asks if he wants to start the route, so it never starts guiding him on its own. That's FR20. He says yes, confirms where he is, and guidance starts. The route comes from a building map supplied by an approved map provider, per FR02. His caretaker doesn't draw maps or set his schedule. He can turn the feature off or delete entries whenever he wants. This is a Should requirement, so it comes after the core navigation and safety features.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the Lesson 6 analysis we picked pair one, basic navigation. Lesson 6 says to start with scenarios that are critical or that happen often, and this one is both. A wrong turn can hurt someone, like Stevie in the AS-IS, and he navigates several times a day, more than he'd use anything else in the app. We started with the version where everything goes right and asked what-if questions about what could go wrong. Each row lists the options we thought about and the requirement our choice turned into. For example, if THEIA can't confirm where Stevie is starting from, it holds off on directions and asks him, and that became FR05.</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Next we went through the other four question types. For when, we decided turns get announced ahead of time and again at the turn, and guidance stops any time a landmark isn't confirmed. For who, maps come from a verified provider, and Stevie gets to pick his route. For what kinds of, we looked at which routes get offered and what kind of distance cue to give. For how-to, we covered how he enters a destination, how THEIA knows he reached a turn, and how he gets back on track after a wrong turn. The biggest decision on this slide is that THEIA doesn't try to work out his position automatically. Stevie confirms each landmark himself, which is FR09.</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tree, set up like the meeting scheduler example from Lesson 6. The root is the normal case, navigating to a destination, and the first row is the what-if branches. We only expanded missed turn. On the when level, a missed turn either gets caught when Stevie can't confirm the next landmark, or nobody notices until he doesn't arrive. If it's caught at the landmark, the who level asks who deals with it, so either THEIA reroutes him or Stevie asks for help. Under THEIA reroutes, the how-to level is how Stevie tells THEIA where he is now. He can say it, or pick from a list of nearby mapped spots. The dashed lines are branches we didn't expand.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last Lesson 6 step is pruning, where each option gets sorted into selected, discarded, or undecided. The selected ones include confirming a landmark at each decision point, not giving directions when the start or a landmark isn't confirmed, and rerouting from wherever Stevie confirms he is. We threw out automatic indoor positioning since our WRS rules it out, sidestep suggestions because the phone can't check that they're safe, and maps drawn by caretakers. We haven't settled on the distance cue yet. For now we're keeping step counts, and THEIA always says they're estimates. FR04, FR05, FR08, FR09 and FR10 all came out of this analysis or were confirmed by it.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Last, here's how THEIA compares to what blind travelers already use: a white cane, a guide dog, asking someone, and regular map apps, which are made for streets. A cane and a guide dog are good for what's right in front of you, but neither one knows where room 204 is. Another person might, if they know the building and they're around. Map apps mostly stop at the front door. THEIA is the only one in this table with room-level routes inside mapped buildings, and the only one that can alert a caretaker after a fall. It does have limits. It only works in buildings with verified maps, and it won't catch every obstacle. Stevie would still use his cane or guide dog with it, and THEIA would handle the indoor part of the trip. Thanks for watching.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1E147-C8A0-4BC6-976C-8EAA43EDA5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BF3227-9478-4C52-AA73-6319424D28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A9542B-8975-4A12-AD77-67429A3C3BD4}"/>
              </a:ext>
            </a:extLst>
          </p:cNvPr>
          <p:cNvSpPr>
            <a:spLocks noGrp="1"/>
          </p:cNvSpPr>
          <p:nvPr>
            <p:ph type="dt" sz="half" idx="10"/>
          </p:nvPr>
        </p:nvSpPr>
        <p:spPr/>
        <p:txBody>
          <a:bodyPr/>
          <a:lstStyle/>
          <a:p>
            <a:fld id="{B19FC151-C95F-4B97-8B73-E5BFB448A7CA}" type="datetimeFigureOut">
              <a:rPr lang="en-US" smtClean="0"/>
              <a:t>10/18/2026</a:t>
            </a:fld>
            <a:endParaRPr lang="en-US"/>
          </a:p>
        </p:txBody>
      </p:sp>
      <p:sp>
        <p:nvSpPr>
          <p:cNvPr id="5" name="Footer Placeholder 4">
            <a:extLst>
              <a:ext uri="{FF2B5EF4-FFF2-40B4-BE49-F238E27FC236}">
                <a16:creationId xmlns:a16="http://schemas.microsoft.com/office/drawing/2014/main" id="{028D904B-4391-43CD-A7AA-3824F2C109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BFDD9A-8941-4511-8C61-6673FC0690A9}"/>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2232785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C906D-56D6-4B8F-87C5-B0EE1CE574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5CF03C-1CAC-4554-97C3-DF7AD8C3CEA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10C7BB-5EDD-41DD-831D-12E53C1D6534}"/>
              </a:ext>
            </a:extLst>
          </p:cNvPr>
          <p:cNvSpPr>
            <a:spLocks noGrp="1"/>
          </p:cNvSpPr>
          <p:nvPr>
            <p:ph type="dt" sz="half" idx="10"/>
          </p:nvPr>
        </p:nvSpPr>
        <p:spPr/>
        <p:txBody>
          <a:bodyPr/>
          <a:lstStyle/>
          <a:p>
            <a:fld id="{B19FC151-C95F-4B97-8B73-E5BFB448A7CA}" type="datetimeFigureOut">
              <a:rPr lang="en-US" smtClean="0"/>
              <a:t>10/18/2026</a:t>
            </a:fld>
            <a:endParaRPr lang="en-US"/>
          </a:p>
        </p:txBody>
      </p:sp>
      <p:sp>
        <p:nvSpPr>
          <p:cNvPr id="5" name="Footer Placeholder 4">
            <a:extLst>
              <a:ext uri="{FF2B5EF4-FFF2-40B4-BE49-F238E27FC236}">
                <a16:creationId xmlns:a16="http://schemas.microsoft.com/office/drawing/2014/main" id="{39B0C739-34B4-49D4-8F87-43555C336A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890C07-C203-46D1-A9A9-2A278959715A}"/>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4106349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9F9BD-F333-480E-8CBF-2576F003CA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7D85C8-A58E-4D0C-96E1-49F452E929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1F543B-5C9D-4309-B49A-568CE1883714}"/>
              </a:ext>
            </a:extLst>
          </p:cNvPr>
          <p:cNvSpPr>
            <a:spLocks noGrp="1"/>
          </p:cNvSpPr>
          <p:nvPr>
            <p:ph type="dt" sz="half" idx="10"/>
          </p:nvPr>
        </p:nvSpPr>
        <p:spPr/>
        <p:txBody>
          <a:bodyPr/>
          <a:lstStyle/>
          <a:p>
            <a:fld id="{B19FC151-C95F-4B97-8B73-E5BFB448A7CA}" type="datetimeFigureOut">
              <a:rPr lang="en-US" smtClean="0"/>
              <a:t>10/18/2026</a:t>
            </a:fld>
            <a:endParaRPr lang="en-US"/>
          </a:p>
        </p:txBody>
      </p:sp>
      <p:sp>
        <p:nvSpPr>
          <p:cNvPr id="5" name="Footer Placeholder 4">
            <a:extLst>
              <a:ext uri="{FF2B5EF4-FFF2-40B4-BE49-F238E27FC236}">
                <a16:creationId xmlns:a16="http://schemas.microsoft.com/office/drawing/2014/main" id="{E74CE2B0-E7A4-457D-BEAA-2BE86224E5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2587F0-5F44-42E4-958A-D61C983530FD}"/>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2446737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C1B2E-0F83-4B3F-8736-1782CF15F7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DC77F3-7F52-4699-98BC-F5CDD835E4D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E70FF8E-CB09-41A9-BA43-70B505DB96A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5C8000E-3AAB-4E34-85A2-22F28B8A45F6}"/>
              </a:ext>
            </a:extLst>
          </p:cNvPr>
          <p:cNvSpPr>
            <a:spLocks noGrp="1"/>
          </p:cNvSpPr>
          <p:nvPr>
            <p:ph type="dt" sz="half" idx="10"/>
          </p:nvPr>
        </p:nvSpPr>
        <p:spPr/>
        <p:txBody>
          <a:bodyPr/>
          <a:lstStyle/>
          <a:p>
            <a:fld id="{B19FC151-C95F-4B97-8B73-E5BFB448A7CA}" type="datetimeFigureOut">
              <a:rPr lang="en-US" smtClean="0"/>
              <a:t>10/18/2026</a:t>
            </a:fld>
            <a:endParaRPr lang="en-US"/>
          </a:p>
        </p:txBody>
      </p:sp>
      <p:sp>
        <p:nvSpPr>
          <p:cNvPr id="6" name="Footer Placeholder 5">
            <a:extLst>
              <a:ext uri="{FF2B5EF4-FFF2-40B4-BE49-F238E27FC236}">
                <a16:creationId xmlns:a16="http://schemas.microsoft.com/office/drawing/2014/main" id="{A239A5A7-F8BC-4CE7-9AFB-B7F24E9DD4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2D875C-2EED-412F-835A-8D9AD47858B5}"/>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3473811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418B9-F5FD-430F-A486-D0A4EF4A93D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09A873D-46AB-489F-93A5-703A9428A3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4F73EAB-7738-4218-8320-BAF5B88ED75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DB9B05-5412-4BA5-9B92-556AC2BA24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F9F8B3F-FDF1-466F-A684-6668B08C212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7F1379-FEB2-4232-A97B-4A9854F81CE9}"/>
              </a:ext>
            </a:extLst>
          </p:cNvPr>
          <p:cNvSpPr>
            <a:spLocks noGrp="1"/>
          </p:cNvSpPr>
          <p:nvPr>
            <p:ph type="dt" sz="half" idx="10"/>
          </p:nvPr>
        </p:nvSpPr>
        <p:spPr/>
        <p:txBody>
          <a:bodyPr/>
          <a:lstStyle/>
          <a:p>
            <a:fld id="{B19FC151-C95F-4B97-8B73-E5BFB448A7CA}" type="datetimeFigureOut">
              <a:rPr lang="en-US" smtClean="0"/>
              <a:t>10/18/2026</a:t>
            </a:fld>
            <a:endParaRPr lang="en-US"/>
          </a:p>
        </p:txBody>
      </p:sp>
      <p:sp>
        <p:nvSpPr>
          <p:cNvPr id="8" name="Footer Placeholder 7">
            <a:extLst>
              <a:ext uri="{FF2B5EF4-FFF2-40B4-BE49-F238E27FC236}">
                <a16:creationId xmlns:a16="http://schemas.microsoft.com/office/drawing/2014/main" id="{6883ADD5-6DE6-4F90-9F48-23CF2FDEDFB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5D40F2-AC8A-4686-915A-3A4598825217}"/>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2606402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C7AAF-1469-414A-8493-0CA826FFC2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8D0EDA4-27B8-49D9-9CDC-EC94D6DD62DE}"/>
              </a:ext>
            </a:extLst>
          </p:cNvPr>
          <p:cNvSpPr>
            <a:spLocks noGrp="1"/>
          </p:cNvSpPr>
          <p:nvPr>
            <p:ph type="dt" sz="half" idx="10"/>
          </p:nvPr>
        </p:nvSpPr>
        <p:spPr/>
        <p:txBody>
          <a:bodyPr/>
          <a:lstStyle/>
          <a:p>
            <a:fld id="{B19FC151-C95F-4B97-8B73-E5BFB448A7CA}" type="datetimeFigureOut">
              <a:rPr lang="en-US" smtClean="0"/>
              <a:t>10/18/2026</a:t>
            </a:fld>
            <a:endParaRPr lang="en-US"/>
          </a:p>
        </p:txBody>
      </p:sp>
      <p:sp>
        <p:nvSpPr>
          <p:cNvPr id="4" name="Footer Placeholder 3">
            <a:extLst>
              <a:ext uri="{FF2B5EF4-FFF2-40B4-BE49-F238E27FC236}">
                <a16:creationId xmlns:a16="http://schemas.microsoft.com/office/drawing/2014/main" id="{043BB72E-178F-465C-BAC7-372CB6F8EB5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D2BE6B-1F95-4225-BB77-01B2BC22044B}"/>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2589930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E200F2-9C97-4485-97B8-43AF0DD70CDC}"/>
              </a:ext>
            </a:extLst>
          </p:cNvPr>
          <p:cNvSpPr>
            <a:spLocks noGrp="1"/>
          </p:cNvSpPr>
          <p:nvPr>
            <p:ph type="dt" sz="half" idx="10"/>
          </p:nvPr>
        </p:nvSpPr>
        <p:spPr/>
        <p:txBody>
          <a:bodyPr/>
          <a:lstStyle/>
          <a:p>
            <a:fld id="{B19FC151-C95F-4B97-8B73-E5BFB448A7CA}" type="datetimeFigureOut">
              <a:rPr lang="en-US" smtClean="0"/>
              <a:t>10/18/2026</a:t>
            </a:fld>
            <a:endParaRPr lang="en-US"/>
          </a:p>
        </p:txBody>
      </p:sp>
      <p:sp>
        <p:nvSpPr>
          <p:cNvPr id="3" name="Footer Placeholder 2">
            <a:extLst>
              <a:ext uri="{FF2B5EF4-FFF2-40B4-BE49-F238E27FC236}">
                <a16:creationId xmlns:a16="http://schemas.microsoft.com/office/drawing/2014/main" id="{FC314FCC-17D0-4070-87DE-01A740525D6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0375113-BE05-4973-B2F8-5D8DEC179D12}"/>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4208470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A1825-4DE0-4612-BBDD-192DEAA9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B66D902-ED54-4D39-8D2E-25F1B53046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FFE6202-835A-4D10-8696-5F9C93985E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E2197CC-931A-42AB-86EB-33B7388062E0}"/>
              </a:ext>
            </a:extLst>
          </p:cNvPr>
          <p:cNvSpPr>
            <a:spLocks noGrp="1"/>
          </p:cNvSpPr>
          <p:nvPr>
            <p:ph type="dt" sz="half" idx="10"/>
          </p:nvPr>
        </p:nvSpPr>
        <p:spPr/>
        <p:txBody>
          <a:bodyPr/>
          <a:lstStyle/>
          <a:p>
            <a:fld id="{B19FC151-C95F-4B97-8B73-E5BFB448A7CA}" type="datetimeFigureOut">
              <a:rPr lang="en-US" smtClean="0"/>
              <a:t>10/18/2026</a:t>
            </a:fld>
            <a:endParaRPr lang="en-US"/>
          </a:p>
        </p:txBody>
      </p:sp>
      <p:sp>
        <p:nvSpPr>
          <p:cNvPr id="6" name="Footer Placeholder 5">
            <a:extLst>
              <a:ext uri="{FF2B5EF4-FFF2-40B4-BE49-F238E27FC236}">
                <a16:creationId xmlns:a16="http://schemas.microsoft.com/office/drawing/2014/main" id="{C9E62F2B-A80B-466F-ADA7-487AA65D4C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F3C4D0-1C4A-48F9-92DD-F530E7183606}"/>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451485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3BAD3-7D59-44A6-A4A3-D1BA8F249D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1F77753-3940-4A5F-B934-46E478EE29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FBCA91-3E11-4F2F-977B-92EE8E593B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245E498-0231-44B8-8715-5D426B7EA026}"/>
              </a:ext>
            </a:extLst>
          </p:cNvPr>
          <p:cNvSpPr>
            <a:spLocks noGrp="1"/>
          </p:cNvSpPr>
          <p:nvPr>
            <p:ph type="dt" sz="half" idx="10"/>
          </p:nvPr>
        </p:nvSpPr>
        <p:spPr/>
        <p:txBody>
          <a:bodyPr/>
          <a:lstStyle/>
          <a:p>
            <a:fld id="{B19FC151-C95F-4B97-8B73-E5BFB448A7CA}" type="datetimeFigureOut">
              <a:rPr lang="en-US" smtClean="0"/>
              <a:t>10/18/2026</a:t>
            </a:fld>
            <a:endParaRPr lang="en-US"/>
          </a:p>
        </p:txBody>
      </p:sp>
      <p:sp>
        <p:nvSpPr>
          <p:cNvPr id="6" name="Footer Placeholder 5">
            <a:extLst>
              <a:ext uri="{FF2B5EF4-FFF2-40B4-BE49-F238E27FC236}">
                <a16:creationId xmlns:a16="http://schemas.microsoft.com/office/drawing/2014/main" id="{EE0B7981-F7C7-4422-96D1-0A4D53E5E7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33C5BF-2633-4B2F-8306-3C459740543B}"/>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437884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CAD2B-6A45-493C-ADEC-1D523816085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274B83-74CC-4244-8433-B802CC661C6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FDAA2F-BC68-4BC4-9935-F2FBD7229757}"/>
              </a:ext>
            </a:extLst>
          </p:cNvPr>
          <p:cNvSpPr>
            <a:spLocks noGrp="1"/>
          </p:cNvSpPr>
          <p:nvPr>
            <p:ph type="dt" sz="half" idx="10"/>
          </p:nvPr>
        </p:nvSpPr>
        <p:spPr/>
        <p:txBody>
          <a:bodyPr/>
          <a:lstStyle/>
          <a:p>
            <a:fld id="{B19FC151-C95F-4B97-8B73-E5BFB448A7CA}" type="datetimeFigureOut">
              <a:rPr lang="en-US" smtClean="0"/>
              <a:t>10/18/2026</a:t>
            </a:fld>
            <a:endParaRPr lang="en-US"/>
          </a:p>
        </p:txBody>
      </p:sp>
      <p:sp>
        <p:nvSpPr>
          <p:cNvPr id="5" name="Footer Placeholder 4">
            <a:extLst>
              <a:ext uri="{FF2B5EF4-FFF2-40B4-BE49-F238E27FC236}">
                <a16:creationId xmlns:a16="http://schemas.microsoft.com/office/drawing/2014/main" id="{B8D9C779-E871-4A96-8FCC-DDC9AC83F7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632DCE-5E52-42CB-B97F-27362C548122}"/>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79519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1553D9-22F0-49A8-98CD-81B98818FBB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9CBA776-CFB8-4F0F-8F19-D1832E2793C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D45A7A-289F-4728-8B9C-915564DC8F79}"/>
              </a:ext>
            </a:extLst>
          </p:cNvPr>
          <p:cNvSpPr>
            <a:spLocks noGrp="1"/>
          </p:cNvSpPr>
          <p:nvPr>
            <p:ph type="dt" sz="half" idx="10"/>
          </p:nvPr>
        </p:nvSpPr>
        <p:spPr/>
        <p:txBody>
          <a:bodyPr/>
          <a:lstStyle/>
          <a:p>
            <a:fld id="{B19FC151-C95F-4B97-8B73-E5BFB448A7CA}" type="datetimeFigureOut">
              <a:rPr lang="en-US" smtClean="0"/>
              <a:t>10/18/2026</a:t>
            </a:fld>
            <a:endParaRPr lang="en-US"/>
          </a:p>
        </p:txBody>
      </p:sp>
      <p:sp>
        <p:nvSpPr>
          <p:cNvPr id="5" name="Footer Placeholder 4">
            <a:extLst>
              <a:ext uri="{FF2B5EF4-FFF2-40B4-BE49-F238E27FC236}">
                <a16:creationId xmlns:a16="http://schemas.microsoft.com/office/drawing/2014/main" id="{CA86D427-E821-44AE-9199-68D2B686C4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724E30-9118-4896-8D27-4648AE7A0FCE}"/>
              </a:ext>
            </a:extLst>
          </p:cNvPr>
          <p:cNvSpPr>
            <a:spLocks noGrp="1"/>
          </p:cNvSpPr>
          <p:nvPr>
            <p:ph type="sldNum" sz="quarter" idx="12"/>
          </p:nvPr>
        </p:nvSpPr>
        <p:spPr/>
        <p:txBody>
          <a:bodyPr/>
          <a:lstStyle/>
          <a:p>
            <a:fld id="{45C664BD-2E9A-452D-8DCB-A5C1F6FA5F2C}" type="slidenum">
              <a:rPr lang="en-US" smtClean="0"/>
              <a:t>‹#›</a:t>
            </a:fld>
            <a:endParaRPr lang="en-US"/>
          </a:p>
        </p:txBody>
      </p:sp>
    </p:spTree>
    <p:extLst>
      <p:ext uri="{BB962C8B-B14F-4D97-AF65-F5344CB8AC3E}">
        <p14:creationId xmlns:p14="http://schemas.microsoft.com/office/powerpoint/2010/main" val="10762322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BD2AB3-0AA5-46A1-A17E-CC3249007A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9E5A1A-920F-49DA-803B-E908B462E0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9B3C4B-E9B9-464E-B854-C9736BD7B7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9FC151-C95F-4B97-8B73-E5BFB448A7CA}" type="datetimeFigureOut">
              <a:rPr lang="en-US" smtClean="0"/>
              <a:t>10/18/2026</a:t>
            </a:fld>
            <a:endParaRPr lang="en-US"/>
          </a:p>
        </p:txBody>
      </p:sp>
      <p:sp>
        <p:nvSpPr>
          <p:cNvPr id="5" name="Footer Placeholder 4">
            <a:extLst>
              <a:ext uri="{FF2B5EF4-FFF2-40B4-BE49-F238E27FC236}">
                <a16:creationId xmlns:a16="http://schemas.microsoft.com/office/drawing/2014/main" id="{D90264A9-6D41-4537-A210-0F87B15250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A9A312F-6625-4CD9-82BE-98585C3951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C664BD-2E9A-452D-8DCB-A5C1F6FA5F2C}" type="slidenum">
              <a:rPr lang="en-US" smtClean="0"/>
              <a:t>‹#›</a:t>
            </a:fld>
            <a:endParaRPr lang="en-US"/>
          </a:p>
        </p:txBody>
      </p:sp>
    </p:spTree>
    <p:extLst>
      <p:ext uri="{BB962C8B-B14F-4D97-AF65-F5344CB8AC3E}">
        <p14:creationId xmlns:p14="http://schemas.microsoft.com/office/powerpoint/2010/main" val="39624689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9.m4a"/><Relationship Id="rId1" Type="http://schemas.microsoft.com/office/2007/relationships/media" Target="../media/media9.m4a"/><Relationship Id="rId5" Type="http://schemas.openxmlformats.org/officeDocument/2006/relationships/image" Target="../media/image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1.m4a"/><Relationship Id="rId1" Type="http://schemas.microsoft.com/office/2007/relationships/media" Target="../media/media11.m4a"/><Relationship Id="rId5" Type="http://schemas.openxmlformats.org/officeDocument/2006/relationships/image" Target="../media/image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2.m4a"/><Relationship Id="rId1" Type="http://schemas.microsoft.com/office/2007/relationships/media" Target="../media/media12.m4a"/><Relationship Id="rId5" Type="http://schemas.openxmlformats.org/officeDocument/2006/relationships/image" Target="../media/image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3.m4a"/><Relationship Id="rId1" Type="http://schemas.microsoft.com/office/2007/relationships/media" Target="../media/media13.m4a"/><Relationship Id="rId5" Type="http://schemas.openxmlformats.org/officeDocument/2006/relationships/image" Target="../media/image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4.m4a"/><Relationship Id="rId1" Type="http://schemas.microsoft.com/office/2007/relationships/media" Target="../media/media14.m4a"/><Relationship Id="rId5" Type="http://schemas.openxmlformats.org/officeDocument/2006/relationships/image" Target="../media/image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5.m4a"/><Relationship Id="rId1" Type="http://schemas.microsoft.com/office/2007/relationships/media" Target="../media/media15.m4a"/><Relationship Id="rId5" Type="http://schemas.openxmlformats.org/officeDocument/2006/relationships/image" Target="../media/image1.png"/><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68C6E-964B-AF50-E729-29A15AB79843}"/>
              </a:ext>
            </a:extLst>
          </p:cNvPr>
          <p:cNvSpPr>
            <a:spLocks noGrp="1"/>
          </p:cNvSpPr>
          <p:nvPr>
            <p:ph type="ctrTitle"/>
          </p:nvPr>
        </p:nvSpPr>
        <p:spPr/>
        <p:txBody>
          <a:bodyPr/>
          <a:lstStyle/>
          <a:p>
            <a:r>
              <a:rPr lang="en-US" dirty="0"/>
              <a:t>Project THEIA</a:t>
            </a:r>
          </a:p>
        </p:txBody>
      </p:sp>
      <p:sp>
        <p:nvSpPr>
          <p:cNvPr id="3" name="Subtitle 2">
            <a:extLst>
              <a:ext uri="{FF2B5EF4-FFF2-40B4-BE49-F238E27FC236}">
                <a16:creationId xmlns:a16="http://schemas.microsoft.com/office/drawing/2014/main" id="{91440C3C-9794-6B3D-429E-D85A27E7DE08}"/>
              </a:ext>
            </a:extLst>
          </p:cNvPr>
          <p:cNvSpPr>
            <a:spLocks noGrp="1"/>
          </p:cNvSpPr>
          <p:nvPr>
            <p:ph type="subTitle" idx="1"/>
          </p:nvPr>
        </p:nvSpPr>
        <p:spPr>
          <a:xfrm>
            <a:off x="1529475" y="3618463"/>
            <a:ext cx="9144000" cy="1655762"/>
          </a:xfrm>
        </p:spPr>
        <p:txBody>
          <a:bodyPr>
            <a:normAutofit lnSpcReduction="10000"/>
          </a:bodyPr>
          <a:lstStyle/>
          <a:p>
            <a:r>
              <a:rPr lang="en-US" dirty="0"/>
              <a:t>Phase I Presentation</a:t>
            </a:r>
          </a:p>
          <a:p>
            <a:r>
              <a:rPr dirty="0" err="1"/>
              <a:t>CptS</a:t>
            </a:r>
            <a:r>
              <a:rPr dirty="0"/>
              <a:t> 484 Software Requirements, Group 8</a:t>
            </a:r>
          </a:p>
          <a:p>
            <a:r>
              <a:rPr dirty="0"/>
              <a:t>Warren Christian, Quinn McCarthy, Kaitlyn Ahmann, Genevieve Kochel</a:t>
            </a:r>
            <a:r>
              <a:rPr lang="en-US" dirty="0"/>
              <a:t>, Drew Evensen</a:t>
            </a:r>
            <a:endParaRPr dirty="0"/>
          </a:p>
        </p:txBody>
      </p:sp>
      <p:pic>
        <p:nvPicPr>
          <p:cNvPr id="23" name="Audio 22">
            <a:hlinkClick r:id="" action="ppaction://media"/>
            <a:extLst>
              <a:ext uri="{FF2B5EF4-FFF2-40B4-BE49-F238E27FC236}">
                <a16:creationId xmlns:a16="http://schemas.microsoft.com/office/drawing/2014/main" id="{B8A9817D-C92F-667A-D81C-EDD2E68A8D88}"/>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87500" t="-287500" r="-287500" b="-28750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650860704"/>
      </p:ext>
    </p:extLst>
  </p:cSld>
  <p:clrMapOvr>
    <a:masterClrMapping/>
  </p:clrMapOvr>
  <mc:AlternateContent xmlns:mc="http://schemas.openxmlformats.org/markup-compatibility/2006">
    <mc:Choice xmlns:p14="http://schemas.microsoft.com/office/powerpoint/2010/main" Requires="p14">
      <p:transition spd="slow" p14:dur="2000" advTm="39594"/>
    </mc:Choice>
    <mc:Fallback>
      <p:transition spd="slow" advTm="3959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30352" y="292608"/>
            <a:ext cx="11155680" cy="548640"/>
          </a:xfrm>
          <a:prstGeom prst="rect">
            <a:avLst/>
          </a:prstGeom>
          <a:noFill/>
        </p:spPr>
        <p:txBody>
          <a:bodyPr wrap="square" anchor="t">
            <a:spAutoFit/>
          </a:bodyPr>
          <a:lstStyle/>
          <a:p>
            <a:pPr algn="l">
              <a:spcAft>
                <a:spcPts val="600"/>
              </a:spcAft>
            </a:pPr>
            <a:r>
              <a:rPr sz="2800" b="1" i="0">
                <a:solidFill>
                  <a:srgbClr val="262626"/>
                </a:solidFill>
              </a:rPr>
              <a:t>Four Scenario Pairs: What Each Covers and Who Benefits</a:t>
            </a:r>
          </a:p>
        </p:txBody>
      </p:sp>
      <p:graphicFrame>
        <p:nvGraphicFramePr>
          <p:cNvPr id="3" name="Table 2"/>
          <p:cNvGraphicFramePr>
            <a:graphicFrameLocks noGrp="1"/>
          </p:cNvGraphicFramePr>
          <p:nvPr/>
        </p:nvGraphicFramePr>
        <p:xfrm>
          <a:off x="548640" y="1143000"/>
          <a:ext cx="11064240" cy="3886200"/>
        </p:xfrm>
        <a:graphic>
          <a:graphicData uri="http://schemas.openxmlformats.org/drawingml/2006/table">
            <a:tbl>
              <a:tblPr firstRow="1">
                <a:tableStyleId>{5C22544A-7EE6-4342-B048-85BDC9FD1C3A}</a:tableStyleId>
              </a:tblPr>
              <a:tblGrid>
                <a:gridCol w="73152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777240">
                <a:tc>
                  <a:txBody>
                    <a:bodyPr/>
                    <a:lstStyle/>
                    <a:p>
                      <a:r>
                        <a:rPr sz="1600" b="1">
                          <a:solidFill>
                            <a:srgbClr val="FFFFFF"/>
                          </a:solidFill>
                        </a:rPr>
                        <a:t>Pair</a:t>
                      </a:r>
                    </a:p>
                  </a:txBody>
                  <a:tcPr marL="54864" marR="54864" marT="27432" marB="27432" anchor="ctr">
                    <a:solidFill>
                      <a:srgbClr val="4472C4"/>
                    </a:solidFill>
                  </a:tcPr>
                </a:tc>
                <a:tc>
                  <a:txBody>
                    <a:bodyPr/>
                    <a:lstStyle/>
                    <a:p>
                      <a:r>
                        <a:rPr sz="1600" b="1">
                          <a:solidFill>
                            <a:srgbClr val="FFFFFF"/>
                          </a:solidFill>
                        </a:rPr>
                        <a:t>Aspect of THEIA</a:t>
                      </a:r>
                    </a:p>
                  </a:txBody>
                  <a:tcPr marL="54864" marR="54864" marT="27432" marB="27432" anchor="ctr">
                    <a:solidFill>
                      <a:srgbClr val="4472C4"/>
                    </a:solidFill>
                  </a:tcPr>
                </a:tc>
                <a:tc>
                  <a:txBody>
                    <a:bodyPr/>
                    <a:lstStyle/>
                    <a:p>
                      <a:r>
                        <a:rPr sz="1600" b="1">
                          <a:solidFill>
                            <a:srgbClr val="FFFFFF"/>
                          </a:solidFill>
                        </a:rPr>
                        <a:t>What THEIA adds</a:t>
                      </a:r>
                    </a:p>
                  </a:txBody>
                  <a:tcPr marL="54864" marR="54864" marT="27432" marB="27432" anchor="ctr">
                    <a:solidFill>
                      <a:srgbClr val="4472C4"/>
                    </a:solidFill>
                  </a:tcPr>
                </a:tc>
                <a:tc>
                  <a:txBody>
                    <a:bodyPr/>
                    <a:lstStyle/>
                    <a:p>
                      <a:r>
                        <a:rPr sz="1600" b="1">
                          <a:solidFill>
                            <a:srgbClr val="FFFFFF"/>
                          </a:solidFill>
                        </a:rPr>
                        <a:t>Who benefits</a:t>
                      </a:r>
                    </a:p>
                  </a:txBody>
                  <a:tcPr marL="54864" marR="54864" marT="27432" marB="27432" anchor="ctr">
                    <a:solidFill>
                      <a:srgbClr val="4472C4"/>
                    </a:solidFill>
                  </a:tcPr>
                </a:tc>
                <a:extLst>
                  <a:ext uri="{0D108BD9-81ED-4DB2-BD59-A6C34878D82A}">
                    <a16:rowId xmlns:a16="http://schemas.microsoft.com/office/drawing/2014/main" val="10000"/>
                  </a:ext>
                </a:extLst>
              </a:tr>
              <a:tr h="777240">
                <a:tc>
                  <a:txBody>
                    <a:bodyPr/>
                    <a:lstStyle/>
                    <a:p>
                      <a:r>
                        <a:rPr sz="1600" i="0">
                          <a:solidFill>
                            <a:srgbClr val="262626"/>
                          </a:solidFill>
                        </a:rPr>
                        <a:t>1</a:t>
                      </a:r>
                    </a:p>
                  </a:txBody>
                  <a:tcPr marL="54864" marR="54864" marT="27432" marB="27432" anchor="ctr">
                    <a:solidFill>
                      <a:srgbClr val="FFFFFF"/>
                    </a:solidFill>
                  </a:tcPr>
                </a:tc>
                <a:tc>
                  <a:txBody>
                    <a:bodyPr/>
                    <a:lstStyle/>
                    <a:p>
                      <a:r>
                        <a:rPr sz="1600" i="0">
                          <a:solidFill>
                            <a:srgbClr val="262626"/>
                          </a:solidFill>
                        </a:rPr>
                        <a:t>Basic indoor navigation</a:t>
                      </a:r>
                    </a:p>
                  </a:txBody>
                  <a:tcPr marL="54864" marR="54864" marT="27432" marB="27432" anchor="ctr">
                    <a:solidFill>
                      <a:srgbClr val="FFFFFF"/>
                    </a:solidFill>
                  </a:tcPr>
                </a:tc>
                <a:tc>
                  <a:txBody>
                    <a:bodyPr/>
                    <a:lstStyle/>
                    <a:p>
                      <a:r>
                        <a:rPr sz="1600" i="0">
                          <a:solidFill>
                            <a:srgbClr val="262626"/>
                          </a:solidFill>
                        </a:rPr>
                        <a:t>Spoken route from a confirmed start to a chosen room</a:t>
                      </a:r>
                    </a:p>
                  </a:txBody>
                  <a:tcPr marL="54864" marR="54864" marT="27432" marB="27432" anchor="ctr">
                    <a:solidFill>
                      <a:srgbClr val="FFFFFF"/>
                    </a:solidFill>
                  </a:tcPr>
                </a:tc>
                <a:tc>
                  <a:txBody>
                    <a:bodyPr/>
                    <a:lstStyle/>
                    <a:p>
                      <a:r>
                        <a:rPr sz="1600" i="0">
                          <a:solidFill>
                            <a:srgbClr val="262626"/>
                          </a:solidFill>
                        </a:rPr>
                        <a:t>Stevie, a blind student</a:t>
                      </a:r>
                    </a:p>
                  </a:txBody>
                  <a:tcPr marL="54864" marR="54864" marT="27432" marB="27432" anchor="ctr">
                    <a:solidFill>
                      <a:srgbClr val="FFFFFF"/>
                    </a:solidFill>
                  </a:tcPr>
                </a:tc>
                <a:extLst>
                  <a:ext uri="{0D108BD9-81ED-4DB2-BD59-A6C34878D82A}">
                    <a16:rowId xmlns:a16="http://schemas.microsoft.com/office/drawing/2014/main" val="10001"/>
                  </a:ext>
                </a:extLst>
              </a:tr>
              <a:tr h="777240">
                <a:tc>
                  <a:txBody>
                    <a:bodyPr/>
                    <a:lstStyle/>
                    <a:p>
                      <a:r>
                        <a:rPr sz="1600" i="0">
                          <a:solidFill>
                            <a:srgbClr val="262626"/>
                          </a:solidFill>
                        </a:rPr>
                        <a:t>2</a:t>
                      </a:r>
                    </a:p>
                  </a:txBody>
                  <a:tcPr marL="54864" marR="54864" marT="27432" marB="27432" anchor="ctr">
                    <a:solidFill>
                      <a:srgbClr val="F2F2F2"/>
                    </a:solidFill>
                  </a:tcPr>
                </a:tc>
                <a:tc>
                  <a:txBody>
                    <a:bodyPr/>
                    <a:lstStyle/>
                    <a:p>
                      <a:r>
                        <a:rPr sz="1600" i="0">
                          <a:solidFill>
                            <a:srgbClr val="262626"/>
                          </a:solidFill>
                        </a:rPr>
                        <a:t>Static obstacle warning</a:t>
                      </a:r>
                    </a:p>
                  </a:txBody>
                  <a:tcPr marL="54864" marR="54864" marT="27432" marB="27432" anchor="ctr">
                    <a:solidFill>
                      <a:srgbClr val="F2F2F2"/>
                    </a:solidFill>
                  </a:tcPr>
                </a:tc>
                <a:tc>
                  <a:txBody>
                    <a:bodyPr/>
                    <a:lstStyle/>
                    <a:p>
                      <a:r>
                        <a:rPr sz="1600" i="0">
                          <a:solidFill>
                            <a:srgbClr val="262626"/>
                          </a:solidFill>
                        </a:rPr>
                        <a:t>Distinct warning, a stop instruction, and an alternate route or help</a:t>
                      </a:r>
                    </a:p>
                  </a:txBody>
                  <a:tcPr marL="54864" marR="54864" marT="27432" marB="27432" anchor="ctr">
                    <a:solidFill>
                      <a:srgbClr val="F2F2F2"/>
                    </a:solidFill>
                  </a:tcPr>
                </a:tc>
                <a:tc>
                  <a:txBody>
                    <a:bodyPr/>
                    <a:lstStyle/>
                    <a:p>
                      <a:r>
                        <a:rPr sz="1600" i="0">
                          <a:solidFill>
                            <a:srgbClr val="262626"/>
                          </a:solidFill>
                        </a:rPr>
                        <a:t>Stevie</a:t>
                      </a:r>
                    </a:p>
                  </a:txBody>
                  <a:tcPr marL="54864" marR="54864" marT="27432" marB="27432" anchor="ctr">
                    <a:solidFill>
                      <a:srgbClr val="F2F2F2"/>
                    </a:solidFill>
                  </a:tcPr>
                </a:tc>
                <a:extLst>
                  <a:ext uri="{0D108BD9-81ED-4DB2-BD59-A6C34878D82A}">
                    <a16:rowId xmlns:a16="http://schemas.microsoft.com/office/drawing/2014/main" val="10002"/>
                  </a:ext>
                </a:extLst>
              </a:tr>
              <a:tr h="777240">
                <a:tc>
                  <a:txBody>
                    <a:bodyPr/>
                    <a:lstStyle/>
                    <a:p>
                      <a:r>
                        <a:rPr sz="1600" i="0">
                          <a:solidFill>
                            <a:srgbClr val="262626"/>
                          </a:solidFill>
                        </a:rPr>
                        <a:t>3</a:t>
                      </a:r>
                    </a:p>
                  </a:txBody>
                  <a:tcPr marL="54864" marR="54864" marT="27432" marB="27432" anchor="ctr">
                    <a:solidFill>
                      <a:srgbClr val="FFFFFF"/>
                    </a:solidFill>
                  </a:tcPr>
                </a:tc>
                <a:tc>
                  <a:txBody>
                    <a:bodyPr/>
                    <a:lstStyle/>
                    <a:p>
                      <a:r>
                        <a:rPr sz="1600" i="0">
                          <a:solidFill>
                            <a:srgbClr val="262626"/>
                          </a:solidFill>
                        </a:rPr>
                        <a:t>Fall detection and caretaker alert</a:t>
                      </a:r>
                    </a:p>
                  </a:txBody>
                  <a:tcPr marL="54864" marR="54864" marT="27432" marB="27432" anchor="ctr">
                    <a:solidFill>
                      <a:srgbClr val="FFFFFF"/>
                    </a:solidFill>
                  </a:tcPr>
                </a:tc>
                <a:tc>
                  <a:txBody>
                    <a:bodyPr/>
                    <a:lstStyle/>
                    <a:p>
                      <a:r>
                        <a:rPr sz="1600" i="0">
                          <a:solidFill>
                            <a:srgbClr val="262626"/>
                          </a:solidFill>
                        </a:rPr>
                        <a:t>Cancelable countdown, alert with last confirmed location, delivery status</a:t>
                      </a:r>
                    </a:p>
                  </a:txBody>
                  <a:tcPr marL="54864" marR="54864" marT="27432" marB="27432" anchor="ctr">
                    <a:solidFill>
                      <a:srgbClr val="FFFFFF"/>
                    </a:solidFill>
                  </a:tcPr>
                </a:tc>
                <a:tc>
                  <a:txBody>
                    <a:bodyPr/>
                    <a:lstStyle/>
                    <a:p>
                      <a:r>
                        <a:rPr sz="1600" i="0">
                          <a:solidFill>
                            <a:srgbClr val="262626"/>
                          </a:solidFill>
                        </a:rPr>
                        <a:t>Stevie and the caretaker he authorizes</a:t>
                      </a:r>
                    </a:p>
                  </a:txBody>
                  <a:tcPr marL="54864" marR="54864" marT="27432" marB="27432" anchor="ctr">
                    <a:solidFill>
                      <a:srgbClr val="FFFFFF"/>
                    </a:solidFill>
                  </a:tcPr>
                </a:tc>
                <a:extLst>
                  <a:ext uri="{0D108BD9-81ED-4DB2-BD59-A6C34878D82A}">
                    <a16:rowId xmlns:a16="http://schemas.microsoft.com/office/drawing/2014/main" val="10003"/>
                  </a:ext>
                </a:extLst>
              </a:tr>
              <a:tr h="777240">
                <a:tc>
                  <a:txBody>
                    <a:bodyPr/>
                    <a:lstStyle/>
                    <a:p>
                      <a:r>
                        <a:rPr sz="1600" i="0">
                          <a:solidFill>
                            <a:srgbClr val="262626"/>
                          </a:solidFill>
                        </a:rPr>
                        <a:t>4</a:t>
                      </a:r>
                    </a:p>
                  </a:txBody>
                  <a:tcPr marL="54864" marR="54864" marT="27432" marB="27432" anchor="ctr">
                    <a:solidFill>
                      <a:srgbClr val="F2F2F2"/>
                    </a:solidFill>
                  </a:tcPr>
                </a:tc>
                <a:tc>
                  <a:txBody>
                    <a:bodyPr/>
                    <a:lstStyle/>
                    <a:p>
                      <a:r>
                        <a:rPr sz="1600" i="0">
                          <a:solidFill>
                            <a:srgbClr val="262626"/>
                          </a:solidFill>
                        </a:rPr>
                        <a:t>Optional schedule suggestions</a:t>
                      </a:r>
                    </a:p>
                  </a:txBody>
                  <a:tcPr marL="54864" marR="54864" marT="27432" marB="27432" anchor="ctr">
                    <a:solidFill>
                      <a:srgbClr val="F2F2F2"/>
                    </a:solidFill>
                  </a:tcPr>
                </a:tc>
                <a:tc>
                  <a:txBody>
                    <a:bodyPr/>
                    <a:lstStyle/>
                    <a:p>
                      <a:r>
                        <a:rPr sz="1600" i="0">
                          <a:solidFill>
                            <a:srgbClr val="262626"/>
                          </a:solidFill>
                        </a:rPr>
                        <a:t>Opt-in reminder that starts a route only after he confirms</a:t>
                      </a:r>
                    </a:p>
                  </a:txBody>
                  <a:tcPr marL="54864" marR="54864" marT="27432" marB="27432" anchor="ctr">
                    <a:solidFill>
                      <a:srgbClr val="F2F2F2"/>
                    </a:solidFill>
                  </a:tcPr>
                </a:tc>
                <a:tc>
                  <a:txBody>
                    <a:bodyPr/>
                    <a:lstStyle/>
                    <a:p>
                      <a:r>
                        <a:rPr sz="1600" i="0">
                          <a:solidFill>
                            <a:srgbClr val="262626"/>
                          </a:solidFill>
                        </a:rPr>
                        <a:t>Stevie, if he turns it on</a:t>
                      </a:r>
                    </a:p>
                  </a:txBody>
                  <a:tcPr marL="54864" marR="54864" marT="27432" marB="27432" anchor="ctr">
                    <a:solidFill>
                      <a:srgbClr val="F2F2F2"/>
                    </a:solidFill>
                  </a:tcPr>
                </a:tc>
                <a:extLst>
                  <a:ext uri="{0D108BD9-81ED-4DB2-BD59-A6C34878D82A}">
                    <a16:rowId xmlns:a16="http://schemas.microsoft.com/office/drawing/2014/main" val="10004"/>
                  </a:ext>
                </a:extLst>
              </a:tr>
            </a:tbl>
          </a:graphicData>
        </a:graphic>
      </p:graphicFrame>
      <p:pic>
        <p:nvPicPr>
          <p:cNvPr id="11" name="Audio 10">
            <a:hlinkClick r:id="" action="ppaction://media"/>
            <a:extLst>
              <a:ext uri="{FF2B5EF4-FFF2-40B4-BE49-F238E27FC236}">
                <a16:creationId xmlns:a16="http://schemas.microsoft.com/office/drawing/2014/main" id="{40C00777-946E-39F8-FCDC-DE6362935A8A}"/>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87500" t="-287500" r="-287500" b="-28750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111641846"/>
      </p:ext>
    </p:extLst>
  </p:cSld>
  <p:clrMapOvr>
    <a:masterClrMapping/>
  </p:clrMapOvr>
  <mc:AlternateContent xmlns:mc="http://schemas.openxmlformats.org/markup-compatibility/2006">
    <mc:Choice xmlns:p14="http://schemas.microsoft.com/office/powerpoint/2010/main" Requires="p14">
      <p:transition spd="slow" p14:dur="2000" advTm="30510"/>
    </mc:Choice>
    <mc:Fallback>
      <p:transition spd="slow" advTm="305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30352" y="1325880"/>
            <a:ext cx="5760720" cy="2585323"/>
          </a:xfrm>
          <a:prstGeom prst="rect">
            <a:avLst/>
          </a:prstGeom>
          <a:noFill/>
        </p:spPr>
        <p:txBody>
          <a:bodyPr wrap="square" rtlCol="0">
            <a:spAutoFit/>
          </a:bodyPr>
          <a:lstStyle/>
          <a:p>
            <a:pPr marL="285750" indent="-285750">
              <a:buFont typeface="Arial" panose="020B0604020202020204" pitchFamily="34" charset="0"/>
              <a:buChar char="•"/>
            </a:pPr>
            <a:r>
              <a:rPr lang="en-US" dirty="0"/>
              <a:t>Stevie is trying to go to his next classroom. He knows he needs to walk ahead a few steps, and then turn left around the corner.</a:t>
            </a:r>
          </a:p>
          <a:p>
            <a:pPr marL="285750" indent="-285750">
              <a:buFont typeface="Arial" panose="020B0604020202020204" pitchFamily="34" charset="0"/>
              <a:buChar char="•"/>
            </a:pPr>
            <a:r>
              <a:rPr lang="en-US" dirty="0"/>
              <a:t>However, he is not sure when to turn. </a:t>
            </a:r>
          </a:p>
          <a:p>
            <a:pPr marL="285750" indent="-285750">
              <a:buFont typeface="Arial" panose="020B0604020202020204" pitchFamily="34" charset="0"/>
              <a:buChar char="•"/>
            </a:pPr>
            <a:r>
              <a:rPr lang="en-US" dirty="0"/>
              <a:t>He took a guess, but turned too early, hit the wall and hurt his head. </a:t>
            </a:r>
          </a:p>
          <a:p>
            <a:endParaRPr lang="en-US" dirty="0"/>
          </a:p>
        </p:txBody>
      </p:sp>
      <p:sp>
        <p:nvSpPr>
          <p:cNvPr id="7" name="Title"/>
          <p:cNvSpPr txBox="1"/>
          <p:nvPr/>
        </p:nvSpPr>
        <p:spPr>
          <a:xfrm>
            <a:off x="530352" y="292608"/>
            <a:ext cx="11155680" cy="548640"/>
          </a:xfrm>
          <a:prstGeom prst="rect">
            <a:avLst/>
          </a:prstGeom>
          <a:noFill/>
        </p:spPr>
        <p:txBody>
          <a:bodyPr wrap="square" anchor="t">
            <a:spAutoFit/>
          </a:bodyPr>
          <a:lstStyle/>
          <a:p>
            <a:pPr algn="l">
              <a:spcAft>
                <a:spcPts val="600"/>
              </a:spcAft>
            </a:pPr>
            <a:r>
              <a:rPr sz="2800" b="1" i="0">
                <a:solidFill>
                  <a:srgbClr val="262626"/>
                </a:solidFill>
              </a:rPr>
              <a:t>Scenario Pair 1: Basic Indoor Navigation</a:t>
            </a:r>
          </a:p>
        </p:txBody>
      </p:sp>
      <p:sp>
        <p:nvSpPr>
          <p:cNvPr id="8" name="Scenario label"/>
          <p:cNvSpPr txBox="1"/>
          <p:nvPr/>
        </p:nvSpPr>
        <p:spPr>
          <a:xfrm>
            <a:off x="530352" y="841248"/>
            <a:ext cx="7315200" cy="365760"/>
          </a:xfrm>
          <a:prstGeom prst="rect">
            <a:avLst/>
          </a:prstGeom>
          <a:noFill/>
        </p:spPr>
        <p:txBody>
          <a:bodyPr wrap="square" anchor="t">
            <a:spAutoFit/>
          </a:bodyPr>
          <a:lstStyle/>
          <a:p>
            <a:pPr algn="l">
              <a:spcAft>
                <a:spcPts val="600"/>
              </a:spcAft>
            </a:pPr>
            <a:r>
              <a:rPr sz="1800" b="1" i="0">
                <a:solidFill>
                  <a:srgbClr val="4472C4"/>
                </a:solidFill>
              </a:rPr>
              <a:t>AS-IS Scenario</a:t>
            </a:r>
          </a:p>
        </p:txBody>
      </p:sp>
      <p:sp>
        <p:nvSpPr>
          <p:cNvPr id="9" name="Pair summary card"/>
          <p:cNvSpPr/>
          <p:nvPr/>
        </p:nvSpPr>
        <p:spPr>
          <a:xfrm>
            <a:off x="6675120" y="1325880"/>
            <a:ext cx="4983480" cy="2514600"/>
          </a:xfrm>
          <a:prstGeom prst="roundRect">
            <a:avLst>
              <a:gd name="adj" fmla="val 8000"/>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903720" y="1481328"/>
            <a:ext cx="4572000" cy="2286000"/>
          </a:xfrm>
          <a:prstGeom prst="rect">
            <a:avLst/>
          </a:prstGeom>
          <a:noFill/>
        </p:spPr>
        <p:txBody>
          <a:bodyPr wrap="square" anchor="t">
            <a:spAutoFit/>
          </a:bodyPr>
          <a:lstStyle/>
          <a:p>
            <a:pPr algn="l">
              <a:spcAft>
                <a:spcPts val="400"/>
              </a:spcAft>
            </a:pPr>
            <a:r>
              <a:rPr sz="1600" b="1" i="0">
                <a:solidFill>
                  <a:srgbClr val="2F5597"/>
                </a:solidFill>
              </a:rPr>
              <a:t>Feature</a:t>
            </a:r>
          </a:p>
          <a:p>
            <a:pPr algn="l">
              <a:spcAft>
                <a:spcPts val="400"/>
              </a:spcAft>
            </a:pPr>
            <a:r>
              <a:rPr sz="1600" b="0" i="0">
                <a:solidFill>
                  <a:srgbClr val="262626"/>
                </a:solidFill>
              </a:rPr>
              <a:t>Getting from one room to another</a:t>
            </a:r>
          </a:p>
          <a:p>
            <a:pPr algn="l">
              <a:spcAft>
                <a:spcPts val="400"/>
              </a:spcAft>
            </a:pPr>
            <a:r>
              <a:rPr sz="1600" b="1" i="0">
                <a:solidFill>
                  <a:srgbClr val="2F5597"/>
                </a:solidFill>
              </a:rPr>
              <a:t>Who it helps</a:t>
            </a:r>
          </a:p>
          <a:p>
            <a:pPr algn="l">
              <a:spcAft>
                <a:spcPts val="400"/>
              </a:spcAft>
            </a:pPr>
            <a:r>
              <a:rPr sz="1600" b="0" i="0">
                <a:solidFill>
                  <a:srgbClr val="262626"/>
                </a:solidFill>
              </a:rPr>
              <a:t>Stevie, a blind student</a:t>
            </a:r>
          </a:p>
          <a:p>
            <a:pPr algn="l">
              <a:spcAft>
                <a:spcPts val="400"/>
              </a:spcAft>
            </a:pPr>
            <a:r>
              <a:rPr sz="1600" b="1" i="0">
                <a:solidFill>
                  <a:srgbClr val="2F5597"/>
                </a:solidFill>
              </a:rPr>
              <a:t>Problem today</a:t>
            </a:r>
          </a:p>
          <a:p>
            <a:pPr algn="l">
              <a:spcAft>
                <a:spcPts val="400"/>
              </a:spcAft>
            </a:pPr>
            <a:r>
              <a:rPr sz="1600" b="0" i="0">
                <a:solidFill>
                  <a:srgbClr val="262626"/>
                </a:solidFill>
              </a:rPr>
              <a:t>He has to guess where the turn is, and a wrong guess got him hurt.</a:t>
            </a:r>
          </a:p>
        </p:txBody>
      </p:sp>
      <p:pic>
        <p:nvPicPr>
          <p:cNvPr id="12" name="Audio 11">
            <a:hlinkClick r:id="" action="ppaction://media"/>
            <a:extLst>
              <a:ext uri="{FF2B5EF4-FFF2-40B4-BE49-F238E27FC236}">
                <a16:creationId xmlns:a16="http://schemas.microsoft.com/office/drawing/2014/main" id="{6AB09137-67D4-D6AB-7AEB-BFA63279FFA2}"/>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87500" t="-287500" r="-287500" b="-28750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023492326"/>
      </p:ext>
    </p:extLst>
  </p:cSld>
  <p:clrMapOvr>
    <a:masterClrMapping/>
  </p:clrMapOvr>
  <mc:AlternateContent xmlns:mc="http://schemas.openxmlformats.org/markup-compatibility/2006">
    <mc:Choice xmlns:p14="http://schemas.microsoft.com/office/powerpoint/2010/main" Requires="p14">
      <p:transition spd="slow" p14:dur="2000" advTm="23314"/>
    </mc:Choice>
    <mc:Fallback>
      <p:transition spd="slow" advTm="2331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p:cNvSpPr txBox="1"/>
          <p:nvPr/>
        </p:nvSpPr>
        <p:spPr>
          <a:xfrm>
            <a:off x="530352" y="1325880"/>
            <a:ext cx="5760720" cy="2031325"/>
          </a:xfrm>
          <a:prstGeom prst="rect">
            <a:avLst/>
          </a:prstGeom>
          <a:noFill/>
        </p:spPr>
        <p:txBody>
          <a:bodyPr wrap="square" rtlCol="0">
            <a:spAutoFit/>
          </a:bodyPr>
          <a:lstStyle/>
          <a:p>
            <a:pPr marL="285750" indent="-285750">
              <a:buFont typeface="Arial" panose="020B0604020202020204" pitchFamily="34" charset="0"/>
              <a:buChar char="•"/>
            </a:pPr>
            <a:r>
              <a:rPr lang="en-US" dirty="0"/>
              <a:t>The THEIA app asks Stevie to give his current location and the destination.</a:t>
            </a:r>
          </a:p>
          <a:p>
            <a:pPr marL="285750" indent="-285750">
              <a:buFont typeface="Arial" panose="020B0604020202020204" pitchFamily="34" charset="0"/>
              <a:buChar char="•"/>
            </a:pPr>
            <a:r>
              <a:rPr lang="en-US" dirty="0"/>
              <a:t>The app calculates the route from the current location to the destination.</a:t>
            </a:r>
          </a:p>
          <a:p>
            <a:pPr marL="285750" indent="-285750">
              <a:buFont typeface="Arial" panose="020B0604020202020204" pitchFamily="34" charset="0"/>
              <a:buChar char="•"/>
            </a:pPr>
            <a:r>
              <a:rPr lang="en-US" dirty="0"/>
              <a:t>THEIA tells Stevie to “walk ahead 10 steps, then turn left”</a:t>
            </a:r>
          </a:p>
        </p:txBody>
      </p:sp>
      <p:sp>
        <p:nvSpPr>
          <p:cNvPr id="24" name="Title"/>
          <p:cNvSpPr txBox="1"/>
          <p:nvPr/>
        </p:nvSpPr>
        <p:spPr>
          <a:xfrm>
            <a:off x="530352" y="292608"/>
            <a:ext cx="11155680" cy="548640"/>
          </a:xfrm>
          <a:prstGeom prst="rect">
            <a:avLst/>
          </a:prstGeom>
          <a:noFill/>
        </p:spPr>
        <p:txBody>
          <a:bodyPr wrap="square" anchor="t">
            <a:spAutoFit/>
          </a:bodyPr>
          <a:lstStyle/>
          <a:p>
            <a:pPr algn="l">
              <a:spcAft>
                <a:spcPts val="600"/>
              </a:spcAft>
            </a:pPr>
            <a:r>
              <a:rPr sz="2800" b="1" i="0">
                <a:solidFill>
                  <a:srgbClr val="262626"/>
                </a:solidFill>
              </a:rPr>
              <a:t>Scenario Pair 1: Basic Indoor Navigation</a:t>
            </a:r>
          </a:p>
        </p:txBody>
      </p:sp>
      <p:sp>
        <p:nvSpPr>
          <p:cNvPr id="25" name="Scenario label"/>
          <p:cNvSpPr txBox="1"/>
          <p:nvPr/>
        </p:nvSpPr>
        <p:spPr>
          <a:xfrm>
            <a:off x="530352" y="841248"/>
            <a:ext cx="7315200" cy="365760"/>
          </a:xfrm>
          <a:prstGeom prst="rect">
            <a:avLst/>
          </a:prstGeom>
          <a:noFill/>
        </p:spPr>
        <p:txBody>
          <a:bodyPr wrap="square" anchor="t">
            <a:spAutoFit/>
          </a:bodyPr>
          <a:lstStyle/>
          <a:p>
            <a:pPr algn="l">
              <a:spcAft>
                <a:spcPts val="600"/>
              </a:spcAft>
            </a:pPr>
            <a:r>
              <a:rPr sz="1800" b="1" i="0">
                <a:solidFill>
                  <a:srgbClr val="4472C4"/>
                </a:solidFill>
              </a:rPr>
              <a:t>TO-BE Scenario</a:t>
            </a:r>
          </a:p>
        </p:txBody>
      </p:sp>
      <p:pic>
        <p:nvPicPr>
          <p:cNvPr id="26" name="Prototype Screen 1" descr="screen1.png"/>
          <p:cNvPicPr>
            <a:picLocks noChangeAspect="1"/>
          </p:cNvPicPr>
          <p:nvPr/>
        </p:nvPicPr>
        <p:blipFill>
          <a:blip r:embed="rId5"/>
          <a:stretch>
            <a:fillRect/>
          </a:stretch>
        </p:blipFill>
        <p:spPr>
          <a:xfrm>
            <a:off x="9534220" y="914400"/>
            <a:ext cx="2124379" cy="4617720"/>
          </a:xfrm>
          <a:prstGeom prst="rect">
            <a:avLst/>
          </a:prstGeom>
          <a:ln>
            <a:solidFill>
              <a:srgbClr val="BFBFBF"/>
            </a:solidFill>
          </a:ln>
        </p:spPr>
      </p:pic>
      <p:pic>
        <p:nvPicPr>
          <p:cNvPr id="16" name="Audio 15">
            <a:hlinkClick r:id="" action="ppaction://media"/>
            <a:extLst>
              <a:ext uri="{FF2B5EF4-FFF2-40B4-BE49-F238E27FC236}">
                <a16:creationId xmlns:a16="http://schemas.microsoft.com/office/drawing/2014/main" id="{2EEE7F30-C00A-9AD4-205C-B4D73711FFC3}"/>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87500" t="-287500" r="-287500" b="-28750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582441262"/>
      </p:ext>
    </p:extLst>
  </p:cSld>
  <p:clrMapOvr>
    <a:masterClrMapping/>
  </p:clrMapOvr>
  <mc:AlternateContent xmlns:mc="http://schemas.openxmlformats.org/markup-compatibility/2006">
    <mc:Choice xmlns:p14="http://schemas.microsoft.com/office/powerpoint/2010/main" Requires="p14">
      <p:transition spd="slow" p14:dur="2000" advTm="37221"/>
    </mc:Choice>
    <mc:Fallback>
      <p:transition spd="slow" advTm="3722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6"/>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30352" y="292608"/>
            <a:ext cx="11155680" cy="548640"/>
          </a:xfrm>
          <a:prstGeom prst="rect">
            <a:avLst/>
          </a:prstGeom>
          <a:noFill/>
        </p:spPr>
        <p:txBody>
          <a:bodyPr wrap="square" anchor="t">
            <a:spAutoFit/>
          </a:bodyPr>
          <a:lstStyle/>
          <a:p>
            <a:pPr algn="l">
              <a:spcAft>
                <a:spcPts val="600"/>
              </a:spcAft>
            </a:pPr>
            <a:r>
              <a:rPr sz="2800" b="1" i="0">
                <a:solidFill>
                  <a:srgbClr val="262626"/>
                </a:solidFill>
              </a:rPr>
              <a:t>Scenario Pair 2: Static Obstacle Warning</a:t>
            </a:r>
          </a:p>
        </p:txBody>
      </p:sp>
      <p:sp>
        <p:nvSpPr>
          <p:cNvPr id="3" name="Scenario label"/>
          <p:cNvSpPr txBox="1"/>
          <p:nvPr/>
        </p:nvSpPr>
        <p:spPr>
          <a:xfrm>
            <a:off x="530352" y="841248"/>
            <a:ext cx="7315200" cy="365760"/>
          </a:xfrm>
          <a:prstGeom prst="rect">
            <a:avLst/>
          </a:prstGeom>
          <a:noFill/>
        </p:spPr>
        <p:txBody>
          <a:bodyPr wrap="square" anchor="t">
            <a:spAutoFit/>
          </a:bodyPr>
          <a:lstStyle/>
          <a:p>
            <a:pPr algn="l">
              <a:spcAft>
                <a:spcPts val="600"/>
              </a:spcAft>
            </a:pPr>
            <a:r>
              <a:rPr sz="1800" b="1" i="0">
                <a:solidFill>
                  <a:srgbClr val="4472C4"/>
                </a:solidFill>
              </a:rPr>
              <a:t>AS-IS Scenario</a:t>
            </a:r>
          </a:p>
        </p:txBody>
      </p:sp>
      <p:sp>
        <p:nvSpPr>
          <p:cNvPr id="4" name="TextBox 3"/>
          <p:cNvSpPr txBox="1"/>
          <p:nvPr/>
        </p:nvSpPr>
        <p:spPr>
          <a:xfrm>
            <a:off x="530352" y="1325880"/>
            <a:ext cx="5760720" cy="4206240"/>
          </a:xfrm>
          <a:prstGeom prst="rect">
            <a:avLst/>
          </a:prstGeom>
          <a:noFill/>
        </p:spPr>
        <p:txBody>
          <a:bodyPr wrap="square" anchor="t">
            <a:spAutoFit/>
          </a:bodyPr>
          <a:lstStyle/>
          <a:p>
            <a:pPr marL="285750" indent="-285750" algn="l">
              <a:spcAft>
                <a:spcPts val="800"/>
              </a:spcAft>
              <a:buFont typeface="Arial"/>
              <a:buChar char="•"/>
            </a:pPr>
            <a:r>
              <a:rPr sz="1800" b="0" i="0">
                <a:solidFill>
                  <a:srgbClr val="262626"/>
                </a:solidFill>
              </a:rPr>
              <a:t>Stevie walks down the second-floor hallway to class, a route he takes every day.</a:t>
            </a:r>
          </a:p>
          <a:p>
            <a:pPr marL="285750" indent="-285750" algn="l">
              <a:spcAft>
                <a:spcPts val="800"/>
              </a:spcAft>
              <a:buFont typeface="Arial"/>
              <a:buChar char="•"/>
            </a:pPr>
            <a:r>
              <a:rPr sz="1800" b="0" i="0">
                <a:solidFill>
                  <a:srgbClr val="262626"/>
                </a:solidFill>
              </a:rPr>
              <a:t>Overnight, a maintenance cart was left parked in the hall.</a:t>
            </a:r>
          </a:p>
          <a:p>
            <a:pPr marL="285750" indent="-285750" algn="l">
              <a:spcAft>
                <a:spcPts val="800"/>
              </a:spcAft>
              <a:buFont typeface="Arial"/>
              <a:buChar char="•"/>
            </a:pPr>
            <a:r>
              <a:rPr sz="1800" b="0" i="0">
                <a:solidFill>
                  <a:srgbClr val="262626"/>
                </a:solidFill>
              </a:rPr>
              <a:t>His cane hits the cart too late, and he walks into its handle.</a:t>
            </a:r>
          </a:p>
          <a:p>
            <a:pPr marL="285750" indent="-285750" algn="l">
              <a:spcAft>
                <a:spcPts val="800"/>
              </a:spcAft>
              <a:buFont typeface="Arial"/>
              <a:buChar char="•"/>
            </a:pPr>
            <a:r>
              <a:rPr sz="1800" b="0" i="0">
                <a:solidFill>
                  <a:srgbClr val="262626"/>
                </a:solidFill>
              </a:rPr>
              <a:t>He bruises his hip and has to feel his way around a cart he didn't know was there.</a:t>
            </a:r>
          </a:p>
        </p:txBody>
      </p:sp>
      <p:sp>
        <p:nvSpPr>
          <p:cNvPr id="5" name="Pair summary card"/>
          <p:cNvSpPr/>
          <p:nvPr/>
        </p:nvSpPr>
        <p:spPr>
          <a:xfrm>
            <a:off x="6675120" y="1325880"/>
            <a:ext cx="4983480" cy="2514600"/>
          </a:xfrm>
          <a:prstGeom prst="roundRect">
            <a:avLst>
              <a:gd name="adj" fmla="val 8000"/>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903720" y="1481328"/>
            <a:ext cx="4572000" cy="2286000"/>
          </a:xfrm>
          <a:prstGeom prst="rect">
            <a:avLst/>
          </a:prstGeom>
          <a:noFill/>
        </p:spPr>
        <p:txBody>
          <a:bodyPr wrap="square" anchor="t">
            <a:spAutoFit/>
          </a:bodyPr>
          <a:lstStyle/>
          <a:p>
            <a:pPr algn="l">
              <a:spcAft>
                <a:spcPts val="400"/>
              </a:spcAft>
            </a:pPr>
            <a:r>
              <a:rPr sz="1600" b="1" i="0">
                <a:solidFill>
                  <a:srgbClr val="2F5597"/>
                </a:solidFill>
              </a:rPr>
              <a:t>Feature</a:t>
            </a:r>
          </a:p>
          <a:p>
            <a:pPr algn="l">
              <a:spcAft>
                <a:spcPts val="400"/>
              </a:spcAft>
            </a:pPr>
            <a:r>
              <a:rPr sz="1600" b="0" i="0">
                <a:solidFill>
                  <a:srgbClr val="262626"/>
                </a:solidFill>
              </a:rPr>
              <a:t>Warnings about things in the way</a:t>
            </a:r>
          </a:p>
          <a:p>
            <a:pPr algn="l">
              <a:spcAft>
                <a:spcPts val="400"/>
              </a:spcAft>
            </a:pPr>
            <a:r>
              <a:rPr sz="1600" b="1" i="0">
                <a:solidFill>
                  <a:srgbClr val="2F5597"/>
                </a:solidFill>
              </a:rPr>
              <a:t>Who it helps</a:t>
            </a:r>
          </a:p>
          <a:p>
            <a:pPr algn="l">
              <a:spcAft>
                <a:spcPts val="400"/>
              </a:spcAft>
            </a:pPr>
            <a:r>
              <a:rPr sz="1600" b="0" i="0">
                <a:solidFill>
                  <a:srgbClr val="262626"/>
                </a:solidFill>
              </a:rPr>
              <a:t>Stevie</a:t>
            </a:r>
          </a:p>
          <a:p>
            <a:pPr algn="l">
              <a:spcAft>
                <a:spcPts val="400"/>
              </a:spcAft>
            </a:pPr>
            <a:r>
              <a:rPr sz="1600" b="1" i="0">
                <a:solidFill>
                  <a:srgbClr val="2F5597"/>
                </a:solidFill>
              </a:rPr>
              <a:t>Problem today</a:t>
            </a:r>
          </a:p>
          <a:p>
            <a:pPr algn="l">
              <a:spcAft>
                <a:spcPts val="400"/>
              </a:spcAft>
            </a:pPr>
            <a:r>
              <a:rPr sz="1600" b="0" i="0">
                <a:solidFill>
                  <a:srgbClr val="262626"/>
                </a:solidFill>
              </a:rPr>
              <a:t>His cane only finds the cart when it hits it.</a:t>
            </a:r>
          </a:p>
        </p:txBody>
      </p:sp>
      <p:pic>
        <p:nvPicPr>
          <p:cNvPr id="14" name="Audio 13">
            <a:hlinkClick r:id="" action="ppaction://media"/>
            <a:extLst>
              <a:ext uri="{FF2B5EF4-FFF2-40B4-BE49-F238E27FC236}">
                <a16:creationId xmlns:a16="http://schemas.microsoft.com/office/drawing/2014/main" id="{36A7155C-4C81-BBE9-834D-47295E1B0F77}"/>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87500" t="-287500" r="-287500" b="-287500"/>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17030"/>
    </mc:Choice>
    <mc:Fallback>
      <p:transition spd="slow" advTm="170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30352" y="292608"/>
            <a:ext cx="11155680" cy="548640"/>
          </a:xfrm>
          <a:prstGeom prst="rect">
            <a:avLst/>
          </a:prstGeom>
          <a:noFill/>
        </p:spPr>
        <p:txBody>
          <a:bodyPr wrap="square" anchor="t">
            <a:spAutoFit/>
          </a:bodyPr>
          <a:lstStyle/>
          <a:p>
            <a:pPr algn="l">
              <a:spcAft>
                <a:spcPts val="600"/>
              </a:spcAft>
            </a:pPr>
            <a:r>
              <a:rPr sz="2800" b="1" i="0">
                <a:solidFill>
                  <a:srgbClr val="262626"/>
                </a:solidFill>
              </a:rPr>
              <a:t>Scenario Pair 2: Static Obstacle Warning</a:t>
            </a:r>
          </a:p>
        </p:txBody>
      </p:sp>
      <p:sp>
        <p:nvSpPr>
          <p:cNvPr id="3" name="Scenario label"/>
          <p:cNvSpPr txBox="1"/>
          <p:nvPr/>
        </p:nvSpPr>
        <p:spPr>
          <a:xfrm>
            <a:off x="530352" y="841248"/>
            <a:ext cx="7315200" cy="365760"/>
          </a:xfrm>
          <a:prstGeom prst="rect">
            <a:avLst/>
          </a:prstGeom>
          <a:noFill/>
        </p:spPr>
        <p:txBody>
          <a:bodyPr wrap="square" anchor="t">
            <a:spAutoFit/>
          </a:bodyPr>
          <a:lstStyle/>
          <a:p>
            <a:pPr algn="l">
              <a:spcAft>
                <a:spcPts val="600"/>
              </a:spcAft>
            </a:pPr>
            <a:r>
              <a:rPr sz="1800" b="1" i="0">
                <a:solidFill>
                  <a:srgbClr val="4472C4"/>
                </a:solidFill>
              </a:rPr>
              <a:t>TO-BE Scenario</a:t>
            </a:r>
          </a:p>
        </p:txBody>
      </p:sp>
      <p:sp>
        <p:nvSpPr>
          <p:cNvPr id="4" name="TextBox 3"/>
          <p:cNvSpPr txBox="1"/>
          <p:nvPr/>
        </p:nvSpPr>
        <p:spPr>
          <a:xfrm>
            <a:off x="530352" y="1325880"/>
            <a:ext cx="7589520" cy="4572000"/>
          </a:xfrm>
          <a:prstGeom prst="rect">
            <a:avLst/>
          </a:prstGeom>
          <a:noFill/>
        </p:spPr>
        <p:txBody>
          <a:bodyPr wrap="square" anchor="t">
            <a:spAutoFit/>
          </a:bodyPr>
          <a:lstStyle/>
          <a:p>
            <a:pPr marL="285750" indent="-285750" algn="l">
              <a:spcAft>
                <a:spcPts val="800"/>
              </a:spcAft>
              <a:buFont typeface="Arial"/>
              <a:buChar char="•"/>
            </a:pPr>
            <a:r>
              <a:rPr sz="1800" b="0" i="0">
                <a:solidFill>
                  <a:srgbClr val="262626"/>
                </a:solidFill>
              </a:rPr>
              <a:t>Stevie is following THEIA's route guidance down the hallway with his phone camera facing ahead.</a:t>
            </a:r>
          </a:p>
          <a:p>
            <a:pPr marL="285750" indent="-285750" algn="l">
              <a:spcAft>
                <a:spcPts val="800"/>
              </a:spcAft>
              <a:buFont typeface="Arial"/>
              <a:buChar char="•"/>
            </a:pPr>
            <a:r>
              <a:rPr sz="1800" b="0" i="0">
                <a:solidFill>
                  <a:srgbClr val="262626"/>
                </a:solidFill>
              </a:rPr>
              <a:t>The detector reports a static obstacle ahead. THEIA interrupts the route instructions with a distinct spoken warning and a haptic pulse.</a:t>
            </a:r>
          </a:p>
          <a:p>
            <a:pPr marL="285750" indent="-285750" algn="l">
              <a:spcAft>
                <a:spcPts val="800"/>
              </a:spcAft>
              <a:buFont typeface="Arial"/>
              <a:buChar char="•"/>
            </a:pPr>
            <a:r>
              <a:rPr sz="1800" b="0" i="0">
                <a:solidFill>
                  <a:srgbClr val="262626"/>
                </a:solidFill>
              </a:rPr>
              <a:t>THEIA tells him to stop and offers a different mapped route, or help if he wants it.</a:t>
            </a:r>
          </a:p>
          <a:p>
            <a:pPr marL="285750" indent="-285750" algn="l">
              <a:spcAft>
                <a:spcPts val="800"/>
              </a:spcAft>
              <a:buFont typeface="Arial"/>
              <a:buChar char="•"/>
            </a:pPr>
            <a:r>
              <a:rPr sz="1800" b="0" i="0">
                <a:solidFill>
                  <a:srgbClr val="262626"/>
                </a:solidFill>
              </a:rPr>
              <a:t>Stevie chooses the alternate route, and guidance resumes from there.</a:t>
            </a:r>
          </a:p>
        </p:txBody>
      </p:sp>
      <p:pic>
        <p:nvPicPr>
          <p:cNvPr id="5" name="Prototype Screen 2" descr="screen2.png"/>
          <p:cNvPicPr>
            <a:picLocks noChangeAspect="1"/>
          </p:cNvPicPr>
          <p:nvPr/>
        </p:nvPicPr>
        <p:blipFill>
          <a:blip r:embed="rId5"/>
          <a:stretch>
            <a:fillRect/>
          </a:stretch>
        </p:blipFill>
        <p:spPr>
          <a:xfrm>
            <a:off x="9534220" y="914400"/>
            <a:ext cx="2124379" cy="4617720"/>
          </a:xfrm>
          <a:prstGeom prst="rect">
            <a:avLst/>
          </a:prstGeom>
          <a:ln>
            <a:solidFill>
              <a:srgbClr val="BFBFBF"/>
            </a:solidFill>
          </a:ln>
        </p:spPr>
      </p:pic>
      <p:pic>
        <p:nvPicPr>
          <p:cNvPr id="30" name="Audio 29">
            <a:hlinkClick r:id="" action="ppaction://media"/>
            <a:extLst>
              <a:ext uri="{FF2B5EF4-FFF2-40B4-BE49-F238E27FC236}">
                <a16:creationId xmlns:a16="http://schemas.microsoft.com/office/drawing/2014/main" id="{DD983143-BA36-4395-3465-605A97188444}"/>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87500" t="-287500" r="-287500" b="-287500"/>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42219"/>
    </mc:Choice>
    <mc:Fallback>
      <p:transition spd="slow" advTm="4221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0"/>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30352" y="292608"/>
            <a:ext cx="11155680" cy="548640"/>
          </a:xfrm>
          <a:prstGeom prst="rect">
            <a:avLst/>
          </a:prstGeom>
          <a:noFill/>
        </p:spPr>
        <p:txBody>
          <a:bodyPr wrap="square" anchor="t">
            <a:spAutoFit/>
          </a:bodyPr>
          <a:lstStyle/>
          <a:p>
            <a:pPr algn="l">
              <a:spcAft>
                <a:spcPts val="600"/>
              </a:spcAft>
            </a:pPr>
            <a:r>
              <a:rPr sz="2800" b="1" i="0">
                <a:solidFill>
                  <a:srgbClr val="262626"/>
                </a:solidFill>
              </a:rPr>
              <a:t>Scenario Pair 3: Fall Detection and Caretaker Alert</a:t>
            </a:r>
          </a:p>
        </p:txBody>
      </p:sp>
      <p:sp>
        <p:nvSpPr>
          <p:cNvPr id="3" name="Scenario label"/>
          <p:cNvSpPr txBox="1"/>
          <p:nvPr/>
        </p:nvSpPr>
        <p:spPr>
          <a:xfrm>
            <a:off x="530352" y="841248"/>
            <a:ext cx="7315200" cy="365760"/>
          </a:xfrm>
          <a:prstGeom prst="rect">
            <a:avLst/>
          </a:prstGeom>
          <a:noFill/>
        </p:spPr>
        <p:txBody>
          <a:bodyPr wrap="square" anchor="t">
            <a:spAutoFit/>
          </a:bodyPr>
          <a:lstStyle/>
          <a:p>
            <a:pPr algn="l">
              <a:spcAft>
                <a:spcPts val="600"/>
              </a:spcAft>
            </a:pPr>
            <a:r>
              <a:rPr sz="1800" b="1" i="0">
                <a:solidFill>
                  <a:srgbClr val="4472C4"/>
                </a:solidFill>
              </a:rPr>
              <a:t>AS-IS Scenario</a:t>
            </a:r>
          </a:p>
        </p:txBody>
      </p:sp>
      <p:sp>
        <p:nvSpPr>
          <p:cNvPr id="4" name="TextBox 3"/>
          <p:cNvSpPr txBox="1"/>
          <p:nvPr/>
        </p:nvSpPr>
        <p:spPr>
          <a:xfrm>
            <a:off x="530352" y="1325880"/>
            <a:ext cx="5760720" cy="4206240"/>
          </a:xfrm>
          <a:prstGeom prst="rect">
            <a:avLst/>
          </a:prstGeom>
          <a:noFill/>
        </p:spPr>
        <p:txBody>
          <a:bodyPr wrap="square" anchor="t">
            <a:spAutoFit/>
          </a:bodyPr>
          <a:lstStyle/>
          <a:p>
            <a:pPr marL="285750" indent="-285750" algn="l">
              <a:spcAft>
                <a:spcPts val="800"/>
              </a:spcAft>
              <a:buFont typeface="Arial"/>
              <a:buChar char="•"/>
            </a:pPr>
            <a:r>
              <a:rPr sz="1800" b="0" i="0">
                <a:solidFill>
                  <a:srgbClr val="262626"/>
                </a:solidFill>
              </a:rPr>
              <a:t>Stevie is alone in a stairwell between classes when he slips and falls hard.</a:t>
            </a:r>
          </a:p>
          <a:p>
            <a:pPr marL="285750" indent="-285750" algn="l">
              <a:spcAft>
                <a:spcPts val="800"/>
              </a:spcAft>
              <a:buFont typeface="Arial"/>
              <a:buChar char="•"/>
            </a:pPr>
            <a:r>
              <a:rPr sz="1800" b="0" i="0">
                <a:solidFill>
                  <a:srgbClr val="262626"/>
                </a:solidFill>
              </a:rPr>
              <a:t>He's dazed, and his phone has slid somewhere out of reach.</a:t>
            </a:r>
          </a:p>
          <a:p>
            <a:pPr marL="285750" indent="-285750" algn="l">
              <a:spcAft>
                <a:spcPts val="800"/>
              </a:spcAft>
              <a:buFont typeface="Arial"/>
              <a:buChar char="•"/>
            </a:pPr>
            <a:r>
              <a:rPr sz="1800" b="0" i="0">
                <a:solidFill>
                  <a:srgbClr val="262626"/>
                </a:solidFill>
              </a:rPr>
              <a:t>Even once he finds it, he can't easily say where in the building he is.</a:t>
            </a:r>
          </a:p>
          <a:p>
            <a:pPr marL="285750" indent="-285750" algn="l">
              <a:spcAft>
                <a:spcPts val="800"/>
              </a:spcAft>
              <a:buFont typeface="Arial"/>
              <a:buChar char="•"/>
            </a:pPr>
            <a:r>
              <a:rPr sz="1800" b="0" i="0">
                <a:solidFill>
                  <a:srgbClr val="262626"/>
                </a:solidFill>
              </a:rPr>
              <a:t>His mom, who usually helps him, doesn't find out until much later.</a:t>
            </a:r>
          </a:p>
        </p:txBody>
      </p:sp>
      <p:sp>
        <p:nvSpPr>
          <p:cNvPr id="5" name="Pair summary card"/>
          <p:cNvSpPr/>
          <p:nvPr/>
        </p:nvSpPr>
        <p:spPr>
          <a:xfrm>
            <a:off x="6675120" y="1325880"/>
            <a:ext cx="4983480" cy="2514600"/>
          </a:xfrm>
          <a:prstGeom prst="roundRect">
            <a:avLst>
              <a:gd name="adj" fmla="val 8000"/>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903720" y="1481328"/>
            <a:ext cx="4572000" cy="2286000"/>
          </a:xfrm>
          <a:prstGeom prst="rect">
            <a:avLst/>
          </a:prstGeom>
          <a:noFill/>
        </p:spPr>
        <p:txBody>
          <a:bodyPr wrap="square" anchor="t">
            <a:spAutoFit/>
          </a:bodyPr>
          <a:lstStyle/>
          <a:p>
            <a:pPr algn="l">
              <a:spcAft>
                <a:spcPts val="400"/>
              </a:spcAft>
            </a:pPr>
            <a:r>
              <a:rPr sz="1600" b="1" i="0">
                <a:solidFill>
                  <a:srgbClr val="2F5597"/>
                </a:solidFill>
              </a:rPr>
              <a:t>Feature</a:t>
            </a:r>
          </a:p>
          <a:p>
            <a:pPr algn="l">
              <a:spcAft>
                <a:spcPts val="400"/>
              </a:spcAft>
            </a:pPr>
            <a:r>
              <a:rPr sz="1600" b="0" i="0">
                <a:solidFill>
                  <a:srgbClr val="262626"/>
                </a:solidFill>
              </a:rPr>
              <a:t>Getting help after a fall</a:t>
            </a:r>
          </a:p>
          <a:p>
            <a:pPr algn="l">
              <a:spcAft>
                <a:spcPts val="400"/>
              </a:spcAft>
            </a:pPr>
            <a:r>
              <a:rPr sz="1600" b="1" i="0">
                <a:solidFill>
                  <a:srgbClr val="2F5597"/>
                </a:solidFill>
              </a:rPr>
              <a:t>Who it helps</a:t>
            </a:r>
          </a:p>
          <a:p>
            <a:pPr algn="l">
              <a:spcAft>
                <a:spcPts val="400"/>
              </a:spcAft>
            </a:pPr>
            <a:r>
              <a:rPr sz="1600" b="0" i="0">
                <a:solidFill>
                  <a:srgbClr val="262626"/>
                </a:solidFill>
              </a:rPr>
              <a:t>Stevie and the caretaker he approves</a:t>
            </a:r>
          </a:p>
          <a:p>
            <a:pPr algn="l">
              <a:spcAft>
                <a:spcPts val="400"/>
              </a:spcAft>
            </a:pPr>
            <a:r>
              <a:rPr sz="1600" b="1" i="0">
                <a:solidFill>
                  <a:srgbClr val="2F5597"/>
                </a:solidFill>
              </a:rPr>
              <a:t>Problem today</a:t>
            </a:r>
          </a:p>
          <a:p>
            <a:pPr algn="l">
              <a:spcAft>
                <a:spcPts val="400"/>
              </a:spcAft>
            </a:pPr>
            <a:r>
              <a:rPr sz="1600" b="0" i="0">
                <a:solidFill>
                  <a:srgbClr val="262626"/>
                </a:solidFill>
              </a:rPr>
              <a:t>No one knows he fell or where he is.</a:t>
            </a:r>
          </a:p>
        </p:txBody>
      </p:sp>
      <p:pic>
        <p:nvPicPr>
          <p:cNvPr id="15" name="Audio 14">
            <a:hlinkClick r:id="" action="ppaction://media"/>
            <a:extLst>
              <a:ext uri="{FF2B5EF4-FFF2-40B4-BE49-F238E27FC236}">
                <a16:creationId xmlns:a16="http://schemas.microsoft.com/office/drawing/2014/main" id="{590AE53C-52EC-5FDF-1162-C2610CCEE55E}"/>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87500" t="-287500" r="-287500" b="-287500"/>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24000"/>
    </mc:Choice>
    <mc:Fallback>
      <p:transition spd="slow" advTm="2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5"/>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30352" y="292608"/>
            <a:ext cx="11155680" cy="548640"/>
          </a:xfrm>
          <a:prstGeom prst="rect">
            <a:avLst/>
          </a:prstGeom>
          <a:noFill/>
        </p:spPr>
        <p:txBody>
          <a:bodyPr wrap="square" anchor="t">
            <a:spAutoFit/>
          </a:bodyPr>
          <a:lstStyle/>
          <a:p>
            <a:pPr algn="l">
              <a:spcAft>
                <a:spcPts val="600"/>
              </a:spcAft>
            </a:pPr>
            <a:r>
              <a:rPr sz="2800" b="1" i="0">
                <a:solidFill>
                  <a:srgbClr val="262626"/>
                </a:solidFill>
              </a:rPr>
              <a:t>Scenario Pair 3: Fall Detection and Caretaker Alert</a:t>
            </a:r>
          </a:p>
        </p:txBody>
      </p:sp>
      <p:sp>
        <p:nvSpPr>
          <p:cNvPr id="3" name="Scenario label"/>
          <p:cNvSpPr txBox="1"/>
          <p:nvPr/>
        </p:nvSpPr>
        <p:spPr>
          <a:xfrm>
            <a:off x="530352" y="841248"/>
            <a:ext cx="7315200" cy="365760"/>
          </a:xfrm>
          <a:prstGeom prst="rect">
            <a:avLst/>
          </a:prstGeom>
          <a:noFill/>
        </p:spPr>
        <p:txBody>
          <a:bodyPr wrap="square" anchor="t">
            <a:spAutoFit/>
          </a:bodyPr>
          <a:lstStyle/>
          <a:p>
            <a:pPr algn="l">
              <a:spcAft>
                <a:spcPts val="600"/>
              </a:spcAft>
            </a:pPr>
            <a:r>
              <a:rPr sz="1800" b="1" i="0">
                <a:solidFill>
                  <a:srgbClr val="4472C4"/>
                </a:solidFill>
              </a:rPr>
              <a:t>TO-BE Scenario</a:t>
            </a:r>
          </a:p>
        </p:txBody>
      </p:sp>
      <p:sp>
        <p:nvSpPr>
          <p:cNvPr id="4" name="TextBox 3"/>
          <p:cNvSpPr txBox="1"/>
          <p:nvPr/>
        </p:nvSpPr>
        <p:spPr>
          <a:xfrm>
            <a:off x="530352" y="1325880"/>
            <a:ext cx="7589520" cy="4572000"/>
          </a:xfrm>
          <a:prstGeom prst="rect">
            <a:avLst/>
          </a:prstGeom>
          <a:noFill/>
        </p:spPr>
        <p:txBody>
          <a:bodyPr wrap="square" anchor="t">
            <a:spAutoFit/>
          </a:bodyPr>
          <a:lstStyle/>
          <a:p>
            <a:pPr marL="285750" indent="-285750" algn="l">
              <a:spcAft>
                <a:spcPts val="800"/>
              </a:spcAft>
              <a:buFont typeface="Arial"/>
              <a:buChar char="•"/>
            </a:pPr>
            <a:r>
              <a:rPr sz="1800" b="0" i="0">
                <a:solidFill>
                  <a:srgbClr val="262626"/>
                </a:solidFill>
              </a:rPr>
              <a:t>When he set up THEIA, Stevie authorized his mom to receive fall alerts.</a:t>
            </a:r>
          </a:p>
          <a:p>
            <a:pPr marL="285750" indent="-285750" algn="l">
              <a:spcAft>
                <a:spcPts val="800"/>
              </a:spcAft>
              <a:buFont typeface="Arial"/>
              <a:buChar char="•"/>
            </a:pPr>
            <a:r>
              <a:rPr sz="1800" b="0" i="0">
                <a:solidFill>
                  <a:srgbClr val="262626"/>
                </a:solidFill>
              </a:rPr>
              <a:t>He falls in the stairwell. The phone detects a suspected hard fall, and THEIA starts a spoken 15-second countdown he can cancel.</a:t>
            </a:r>
          </a:p>
          <a:p>
            <a:pPr marL="285750" indent="-285750" algn="l">
              <a:spcAft>
                <a:spcPts val="800"/>
              </a:spcAft>
              <a:buFont typeface="Arial"/>
              <a:buChar char="•"/>
            </a:pPr>
            <a:r>
              <a:rPr sz="1800" b="0" i="0">
                <a:solidFill>
                  <a:srgbClr val="262626"/>
                </a:solidFill>
              </a:rPr>
              <a:t>He's too dazed to respond. When the countdown ends, THEIA sends his mom an alert with his last confirmed indoor location.</a:t>
            </a:r>
          </a:p>
          <a:p>
            <a:pPr marL="285750" indent="-285750" algn="l">
              <a:spcAft>
                <a:spcPts val="800"/>
              </a:spcAft>
              <a:buFont typeface="Arial"/>
              <a:buChar char="•"/>
            </a:pPr>
            <a:r>
              <a:rPr sz="1800" b="0" i="0">
                <a:solidFill>
                  <a:srgbClr val="262626"/>
                </a:solidFill>
              </a:rPr>
              <a:t>THEIA tells Stevie whether the alert was delivered, failed, or is unconfirmed. If it failed, THEIA offers the emergency call action.</a:t>
            </a:r>
          </a:p>
        </p:txBody>
      </p:sp>
      <p:pic>
        <p:nvPicPr>
          <p:cNvPr id="5" name="Prototype Screen 3" descr="screen3.png"/>
          <p:cNvPicPr>
            <a:picLocks noChangeAspect="1"/>
          </p:cNvPicPr>
          <p:nvPr/>
        </p:nvPicPr>
        <p:blipFill>
          <a:blip r:embed="rId5"/>
          <a:stretch>
            <a:fillRect/>
          </a:stretch>
        </p:blipFill>
        <p:spPr>
          <a:xfrm>
            <a:off x="9534220" y="914400"/>
            <a:ext cx="2124379" cy="4617720"/>
          </a:xfrm>
          <a:prstGeom prst="rect">
            <a:avLst/>
          </a:prstGeom>
          <a:ln>
            <a:solidFill>
              <a:srgbClr val="BFBFBF"/>
            </a:solidFill>
          </a:ln>
        </p:spPr>
      </p:pic>
      <p:pic>
        <p:nvPicPr>
          <p:cNvPr id="14" name="Audio 13">
            <a:hlinkClick r:id="" action="ppaction://media"/>
            <a:extLst>
              <a:ext uri="{FF2B5EF4-FFF2-40B4-BE49-F238E27FC236}">
                <a16:creationId xmlns:a16="http://schemas.microsoft.com/office/drawing/2014/main" id="{22D4A0A1-184D-2735-3FA6-408F0EEE3250}"/>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87500" t="-287500" r="-287500" b="-287500"/>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50008"/>
    </mc:Choice>
    <mc:Fallback>
      <p:transition spd="slow" advTm="5000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30352" y="292608"/>
            <a:ext cx="11155680" cy="548640"/>
          </a:xfrm>
          <a:prstGeom prst="rect">
            <a:avLst/>
          </a:prstGeom>
          <a:noFill/>
        </p:spPr>
        <p:txBody>
          <a:bodyPr wrap="square" anchor="t">
            <a:spAutoFit/>
          </a:bodyPr>
          <a:lstStyle/>
          <a:p>
            <a:pPr algn="l">
              <a:spcAft>
                <a:spcPts val="600"/>
              </a:spcAft>
            </a:pPr>
            <a:r>
              <a:rPr sz="2800" b="1" i="0">
                <a:solidFill>
                  <a:srgbClr val="262626"/>
                </a:solidFill>
              </a:rPr>
              <a:t>Scenario Pair 4: Optional Schedule-Based Suggestions</a:t>
            </a:r>
          </a:p>
        </p:txBody>
      </p:sp>
      <p:sp>
        <p:nvSpPr>
          <p:cNvPr id="3" name="Scenario label"/>
          <p:cNvSpPr txBox="1"/>
          <p:nvPr/>
        </p:nvSpPr>
        <p:spPr>
          <a:xfrm>
            <a:off x="530352" y="841248"/>
            <a:ext cx="7315200" cy="365760"/>
          </a:xfrm>
          <a:prstGeom prst="rect">
            <a:avLst/>
          </a:prstGeom>
          <a:noFill/>
        </p:spPr>
        <p:txBody>
          <a:bodyPr wrap="square" anchor="t">
            <a:spAutoFit/>
          </a:bodyPr>
          <a:lstStyle/>
          <a:p>
            <a:pPr algn="l">
              <a:spcAft>
                <a:spcPts val="600"/>
              </a:spcAft>
            </a:pPr>
            <a:r>
              <a:rPr sz="1800" b="1" i="0">
                <a:solidFill>
                  <a:srgbClr val="4472C4"/>
                </a:solidFill>
              </a:rPr>
              <a:t>AS-IS Scenario</a:t>
            </a:r>
          </a:p>
        </p:txBody>
      </p:sp>
      <p:sp>
        <p:nvSpPr>
          <p:cNvPr id="4" name="TextBox 3"/>
          <p:cNvSpPr txBox="1"/>
          <p:nvPr/>
        </p:nvSpPr>
        <p:spPr>
          <a:xfrm>
            <a:off x="530352" y="1325880"/>
            <a:ext cx="5760720" cy="4206240"/>
          </a:xfrm>
          <a:prstGeom prst="rect">
            <a:avLst/>
          </a:prstGeom>
          <a:noFill/>
        </p:spPr>
        <p:txBody>
          <a:bodyPr wrap="square" anchor="t">
            <a:spAutoFit/>
          </a:bodyPr>
          <a:lstStyle/>
          <a:p>
            <a:pPr marL="285750" indent="-285750" algn="l">
              <a:spcAft>
                <a:spcPts val="800"/>
              </a:spcAft>
              <a:buFont typeface="Arial"/>
              <a:buChar char="•"/>
            </a:pPr>
            <a:r>
              <a:rPr sz="1800" b="0" i="0">
                <a:solidFill>
                  <a:srgbClr val="262626"/>
                </a:solidFill>
              </a:rPr>
              <a:t>A new semester starts, and Stevie's classes move to new rooms and times.</a:t>
            </a:r>
          </a:p>
          <a:p>
            <a:pPr marL="285750" indent="-285750" algn="l">
              <a:spcAft>
                <a:spcPts val="800"/>
              </a:spcAft>
              <a:buFont typeface="Arial"/>
              <a:buChar char="•"/>
            </a:pPr>
            <a:r>
              <a:rPr sz="1800" b="0" i="0">
                <a:solidFill>
                  <a:srgbClr val="262626"/>
                </a:solidFill>
              </a:rPr>
              <a:t>He has to keep track of every time and plan each new route in his head.</a:t>
            </a:r>
          </a:p>
          <a:p>
            <a:pPr marL="285750" indent="-285750" algn="l">
              <a:spcAft>
                <a:spcPts val="800"/>
              </a:spcAft>
              <a:buFont typeface="Arial"/>
              <a:buChar char="•"/>
            </a:pPr>
            <a:r>
              <a:rPr sz="1800" b="0" i="0">
                <a:solidFill>
                  <a:srgbClr val="262626"/>
                </a:solidFill>
              </a:rPr>
              <a:t>On the first Tuesday he loses track of time and leaves late.</a:t>
            </a:r>
          </a:p>
          <a:p>
            <a:pPr marL="285750" indent="-285750" algn="l">
              <a:spcAft>
                <a:spcPts val="800"/>
              </a:spcAft>
              <a:buFont typeface="Arial"/>
              <a:buChar char="•"/>
            </a:pPr>
            <a:r>
              <a:rPr sz="1800" b="0" i="0">
                <a:solidFill>
                  <a:srgbClr val="262626"/>
                </a:solidFill>
              </a:rPr>
              <a:t>He isn't sure how to reach the unfamiliar room and arrives late to class.</a:t>
            </a:r>
          </a:p>
        </p:txBody>
      </p:sp>
      <p:sp>
        <p:nvSpPr>
          <p:cNvPr id="5" name="Pair summary card"/>
          <p:cNvSpPr/>
          <p:nvPr/>
        </p:nvSpPr>
        <p:spPr>
          <a:xfrm>
            <a:off x="6675120" y="1325880"/>
            <a:ext cx="4983480" cy="2514600"/>
          </a:xfrm>
          <a:prstGeom prst="roundRect">
            <a:avLst>
              <a:gd name="adj" fmla="val 8000"/>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903720" y="1481328"/>
            <a:ext cx="4572000" cy="2286000"/>
          </a:xfrm>
          <a:prstGeom prst="rect">
            <a:avLst/>
          </a:prstGeom>
          <a:noFill/>
        </p:spPr>
        <p:txBody>
          <a:bodyPr wrap="square" anchor="t">
            <a:spAutoFit/>
          </a:bodyPr>
          <a:lstStyle/>
          <a:p>
            <a:pPr algn="l">
              <a:spcAft>
                <a:spcPts val="400"/>
              </a:spcAft>
            </a:pPr>
            <a:r>
              <a:rPr sz="1600" b="1" i="0">
                <a:solidFill>
                  <a:srgbClr val="2F5597"/>
                </a:solidFill>
              </a:rPr>
              <a:t>Feature</a:t>
            </a:r>
          </a:p>
          <a:p>
            <a:pPr algn="l">
              <a:spcAft>
                <a:spcPts val="400"/>
              </a:spcAft>
            </a:pPr>
            <a:r>
              <a:rPr sz="1600" b="0" i="0">
                <a:solidFill>
                  <a:srgbClr val="262626"/>
                </a:solidFill>
              </a:rPr>
              <a:t>Reminders based on his class schedule</a:t>
            </a:r>
          </a:p>
          <a:p>
            <a:pPr algn="l">
              <a:spcAft>
                <a:spcPts val="400"/>
              </a:spcAft>
            </a:pPr>
            <a:r>
              <a:rPr sz="1600" b="1" i="0">
                <a:solidFill>
                  <a:srgbClr val="2F5597"/>
                </a:solidFill>
              </a:rPr>
              <a:t>Who it helps</a:t>
            </a:r>
          </a:p>
          <a:p>
            <a:pPr algn="l">
              <a:spcAft>
                <a:spcPts val="400"/>
              </a:spcAft>
            </a:pPr>
            <a:r>
              <a:rPr sz="1600" b="0" i="0">
                <a:solidFill>
                  <a:srgbClr val="262626"/>
                </a:solidFill>
              </a:rPr>
              <a:t>Stevie, if he turns it on</a:t>
            </a:r>
          </a:p>
          <a:p>
            <a:pPr algn="l">
              <a:spcAft>
                <a:spcPts val="400"/>
              </a:spcAft>
            </a:pPr>
            <a:r>
              <a:rPr sz="1600" b="1" i="0">
                <a:solidFill>
                  <a:srgbClr val="2F5597"/>
                </a:solidFill>
              </a:rPr>
              <a:t>Problem today</a:t>
            </a:r>
          </a:p>
          <a:p>
            <a:pPr algn="l">
              <a:spcAft>
                <a:spcPts val="400"/>
              </a:spcAft>
            </a:pPr>
            <a:r>
              <a:rPr sz="1600" b="0" i="0">
                <a:solidFill>
                  <a:srgbClr val="262626"/>
                </a:solidFill>
              </a:rPr>
              <a:t>He has to keep track of every class time and new route himself.</a:t>
            </a:r>
          </a:p>
        </p:txBody>
      </p:sp>
      <p:pic>
        <p:nvPicPr>
          <p:cNvPr id="11" name="Audio 10">
            <a:hlinkClick r:id="" action="ppaction://media"/>
            <a:extLst>
              <a:ext uri="{FF2B5EF4-FFF2-40B4-BE49-F238E27FC236}">
                <a16:creationId xmlns:a16="http://schemas.microsoft.com/office/drawing/2014/main" id="{8BD1F896-65B3-FA7F-47B6-88B190F2BF36}"/>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87500" t="-287500" r="-287500" b="-287500"/>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24577"/>
    </mc:Choice>
    <mc:Fallback>
      <p:transition spd="slow" advTm="2457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30352" y="292608"/>
            <a:ext cx="11155680" cy="548640"/>
          </a:xfrm>
          <a:prstGeom prst="rect">
            <a:avLst/>
          </a:prstGeom>
          <a:noFill/>
        </p:spPr>
        <p:txBody>
          <a:bodyPr wrap="square" anchor="t">
            <a:spAutoFit/>
          </a:bodyPr>
          <a:lstStyle/>
          <a:p>
            <a:pPr algn="l">
              <a:spcAft>
                <a:spcPts val="600"/>
              </a:spcAft>
            </a:pPr>
            <a:r>
              <a:rPr sz="2800" b="1" i="0">
                <a:solidFill>
                  <a:srgbClr val="262626"/>
                </a:solidFill>
              </a:rPr>
              <a:t>Scenario Pair 4: Optional Schedule-Based Suggestions</a:t>
            </a:r>
          </a:p>
        </p:txBody>
      </p:sp>
      <p:sp>
        <p:nvSpPr>
          <p:cNvPr id="3" name="Scenario label"/>
          <p:cNvSpPr txBox="1"/>
          <p:nvPr/>
        </p:nvSpPr>
        <p:spPr>
          <a:xfrm>
            <a:off x="530352" y="841248"/>
            <a:ext cx="7315200" cy="365760"/>
          </a:xfrm>
          <a:prstGeom prst="rect">
            <a:avLst/>
          </a:prstGeom>
          <a:noFill/>
        </p:spPr>
        <p:txBody>
          <a:bodyPr wrap="square" anchor="t">
            <a:spAutoFit/>
          </a:bodyPr>
          <a:lstStyle/>
          <a:p>
            <a:pPr algn="l">
              <a:spcAft>
                <a:spcPts val="600"/>
              </a:spcAft>
            </a:pPr>
            <a:r>
              <a:rPr sz="1800" b="1" i="0">
                <a:solidFill>
                  <a:srgbClr val="4472C4"/>
                </a:solidFill>
              </a:rPr>
              <a:t>TO-BE Scenario</a:t>
            </a:r>
          </a:p>
        </p:txBody>
      </p:sp>
      <p:sp>
        <p:nvSpPr>
          <p:cNvPr id="4" name="TextBox 3"/>
          <p:cNvSpPr txBox="1"/>
          <p:nvPr/>
        </p:nvSpPr>
        <p:spPr>
          <a:xfrm>
            <a:off x="530352" y="1325880"/>
            <a:ext cx="7589520" cy="4572000"/>
          </a:xfrm>
          <a:prstGeom prst="rect">
            <a:avLst/>
          </a:prstGeom>
          <a:noFill/>
        </p:spPr>
        <p:txBody>
          <a:bodyPr wrap="square" anchor="t">
            <a:spAutoFit/>
          </a:bodyPr>
          <a:lstStyle/>
          <a:p>
            <a:pPr marL="285750" indent="-285750" algn="l">
              <a:spcAft>
                <a:spcPts val="800"/>
              </a:spcAft>
              <a:buFont typeface="Arial"/>
              <a:buChar char="•"/>
            </a:pPr>
            <a:r>
              <a:rPr sz="1800" b="0" i="0">
                <a:solidFill>
                  <a:srgbClr val="262626"/>
                </a:solidFill>
              </a:rPr>
              <a:t>Schedule suggestions are off by default. Stevie turns them on himself and enters his class times and rooms.</a:t>
            </a:r>
          </a:p>
          <a:p>
            <a:pPr marL="285750" indent="-285750" algn="l">
              <a:spcAft>
                <a:spcPts val="800"/>
              </a:spcAft>
              <a:buFont typeface="Arial"/>
              <a:buChar char="•"/>
            </a:pPr>
            <a:r>
              <a:rPr sz="1800" b="0" i="0">
                <a:solidFill>
                  <a:srgbClr val="262626"/>
                </a:solidFill>
              </a:rPr>
              <a:t>At departure time, THEIA says: "Next class: Engineering 204 at 10:00. Start route?"</a:t>
            </a:r>
          </a:p>
          <a:p>
            <a:pPr marL="285750" indent="-285750" algn="l">
              <a:spcAft>
                <a:spcPts val="800"/>
              </a:spcAft>
              <a:buFont typeface="Arial"/>
              <a:buChar char="•"/>
            </a:pPr>
            <a:r>
              <a:rPr sz="1800" b="0" i="0">
                <a:solidFill>
                  <a:srgbClr val="262626"/>
                </a:solidFill>
              </a:rPr>
              <a:t>Stevie says yes and confirms where he is, and THEIA starts guiding him using the verified building map.</a:t>
            </a:r>
          </a:p>
          <a:p>
            <a:pPr marL="285750" indent="-285750" algn="l">
              <a:spcAft>
                <a:spcPts val="800"/>
              </a:spcAft>
              <a:buFont typeface="Arial"/>
              <a:buChar char="•"/>
            </a:pPr>
            <a:r>
              <a:rPr sz="1800" b="0" i="0">
                <a:solidFill>
                  <a:srgbClr val="262626"/>
                </a:solidFill>
              </a:rPr>
              <a:t>He can turn suggestions off or delete any saved entry at any time.</a:t>
            </a:r>
          </a:p>
        </p:txBody>
      </p:sp>
      <p:pic>
        <p:nvPicPr>
          <p:cNvPr id="5" name="Prototype Screen 4" descr="screen4.png"/>
          <p:cNvPicPr>
            <a:picLocks noChangeAspect="1"/>
          </p:cNvPicPr>
          <p:nvPr/>
        </p:nvPicPr>
        <p:blipFill>
          <a:blip r:embed="rId5"/>
          <a:stretch>
            <a:fillRect/>
          </a:stretch>
        </p:blipFill>
        <p:spPr>
          <a:xfrm>
            <a:off x="9534220" y="914400"/>
            <a:ext cx="2124379" cy="4617720"/>
          </a:xfrm>
          <a:prstGeom prst="rect">
            <a:avLst/>
          </a:prstGeom>
          <a:ln>
            <a:solidFill>
              <a:srgbClr val="BFBFBF"/>
            </a:solidFill>
          </a:ln>
        </p:spPr>
      </p:pic>
      <p:pic>
        <p:nvPicPr>
          <p:cNvPr id="18" name="Audio 17">
            <a:hlinkClick r:id="" action="ppaction://media"/>
            <a:extLst>
              <a:ext uri="{FF2B5EF4-FFF2-40B4-BE49-F238E27FC236}">
                <a16:creationId xmlns:a16="http://schemas.microsoft.com/office/drawing/2014/main" id="{8F3393BE-EA73-2760-7BC2-D5B16F1ABC6A}"/>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87500" t="-287500" r="-287500" b="-287500"/>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40710"/>
    </mc:Choice>
    <mc:Fallback>
      <p:transition spd="slow" advTm="407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30352" y="292608"/>
            <a:ext cx="11155680" cy="548640"/>
          </a:xfrm>
          <a:prstGeom prst="rect">
            <a:avLst/>
          </a:prstGeom>
          <a:noFill/>
        </p:spPr>
        <p:txBody>
          <a:bodyPr wrap="square" anchor="t">
            <a:spAutoFit/>
          </a:bodyPr>
          <a:lstStyle/>
          <a:p>
            <a:pPr algn="l">
              <a:spcAft>
                <a:spcPts val="600"/>
              </a:spcAft>
            </a:pPr>
            <a:r>
              <a:rPr sz="2800" b="1" i="0">
                <a:solidFill>
                  <a:srgbClr val="262626"/>
                </a:solidFill>
              </a:rPr>
              <a:t>Analysis of the Top-Priority Scenario: Pair 1 Navigation</a:t>
            </a:r>
          </a:p>
        </p:txBody>
      </p:sp>
      <p:sp>
        <p:nvSpPr>
          <p:cNvPr id="3" name="Priority card"/>
          <p:cNvSpPr/>
          <p:nvPr/>
        </p:nvSpPr>
        <p:spPr>
          <a:xfrm>
            <a:off x="530352" y="1097280"/>
            <a:ext cx="3566160" cy="4846320"/>
          </a:xfrm>
          <a:prstGeom prst="roundRect">
            <a:avLst>
              <a:gd name="adj" fmla="val 8000"/>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261872"/>
            <a:ext cx="3200400" cy="4572000"/>
          </a:xfrm>
          <a:prstGeom prst="rect">
            <a:avLst/>
          </a:prstGeom>
          <a:noFill/>
        </p:spPr>
        <p:txBody>
          <a:bodyPr wrap="square" anchor="t">
            <a:spAutoFit/>
          </a:bodyPr>
          <a:lstStyle/>
          <a:p>
            <a:pPr algn="l">
              <a:spcAft>
                <a:spcPts val="500"/>
              </a:spcAft>
            </a:pPr>
            <a:r>
              <a:rPr sz="1800" b="1" i="0">
                <a:solidFill>
                  <a:srgbClr val="2F5597"/>
                </a:solidFill>
              </a:rPr>
              <a:t>Why Pair 1 comes first</a:t>
            </a:r>
          </a:p>
          <a:p>
            <a:pPr algn="l">
              <a:spcAft>
                <a:spcPts val="500"/>
              </a:spcAft>
            </a:pPr>
            <a:r>
              <a:rPr sz="1500" b="0" i="0">
                <a:solidFill>
                  <a:srgbClr val="262626"/>
                </a:solidFill>
              </a:rPr>
              <a:t>Lesson 6 says to prioritize scenarios that are critical or high frequency. Pair 1 is both.</a:t>
            </a:r>
          </a:p>
          <a:p>
            <a:pPr algn="l">
              <a:spcAft>
                <a:spcPts val="500"/>
              </a:spcAft>
            </a:pPr>
            <a:r>
              <a:rPr sz="1500" b="1" i="0">
                <a:solidFill>
                  <a:srgbClr val="2F5597"/>
                </a:solidFill>
              </a:rPr>
              <a:t>Critical</a:t>
            </a:r>
          </a:p>
          <a:p>
            <a:pPr algn="l">
              <a:spcAft>
                <a:spcPts val="500"/>
              </a:spcAft>
            </a:pPr>
            <a:r>
              <a:rPr sz="1500" b="0" i="0">
                <a:solidFill>
                  <a:srgbClr val="262626"/>
                </a:solidFill>
              </a:rPr>
              <a:t>A wrong turn can hurt him, like walking into the wall in the AS-IS.</a:t>
            </a:r>
          </a:p>
          <a:p>
            <a:pPr algn="l">
              <a:spcAft>
                <a:spcPts val="500"/>
              </a:spcAft>
            </a:pPr>
            <a:r>
              <a:rPr sz="1500" b="1" i="0">
                <a:solidFill>
                  <a:srgbClr val="2F5597"/>
                </a:solidFill>
              </a:rPr>
              <a:t>High frequency</a:t>
            </a:r>
          </a:p>
          <a:p>
            <a:pPr algn="l">
              <a:spcAft>
                <a:spcPts val="500"/>
              </a:spcAft>
            </a:pPr>
            <a:r>
              <a:rPr sz="1500" b="0" i="0">
                <a:solidFill>
                  <a:srgbClr val="262626"/>
                </a:solidFill>
              </a:rPr>
              <a:t>Stevie navigates several times a day, more than he uses any other feature.</a:t>
            </a:r>
          </a:p>
          <a:p>
            <a:pPr algn="l">
              <a:spcAft>
                <a:spcPts val="500"/>
              </a:spcAft>
            </a:pPr>
            <a:r>
              <a:rPr sz="1500" b="1" i="0">
                <a:solidFill>
                  <a:srgbClr val="2F5597"/>
                </a:solidFill>
              </a:rPr>
              <a:t>Method</a:t>
            </a:r>
          </a:p>
          <a:p>
            <a:pPr algn="l">
              <a:spcAft>
                <a:spcPts val="500"/>
              </a:spcAft>
            </a:pPr>
            <a:r>
              <a:rPr sz="1500" b="0" i="0">
                <a:solidFill>
                  <a:srgbClr val="262626"/>
                </a:solidFill>
              </a:rPr>
              <a:t>We started from the normal scenario and asked all five question types.</a:t>
            </a:r>
          </a:p>
        </p:txBody>
      </p:sp>
      <p:graphicFrame>
        <p:nvGraphicFramePr>
          <p:cNvPr id="5" name="Table 4"/>
          <p:cNvGraphicFramePr>
            <a:graphicFrameLocks noGrp="1"/>
          </p:cNvGraphicFramePr>
          <p:nvPr/>
        </p:nvGraphicFramePr>
        <p:xfrm>
          <a:off x="4343400" y="1097280"/>
          <a:ext cx="7315200" cy="4828032"/>
        </p:xfrm>
        <a:graphic>
          <a:graphicData uri="http://schemas.openxmlformats.org/drawingml/2006/table">
            <a:tbl>
              <a:tblPr firstRow="1">
                <a:tableStyleId>{5C22544A-7EE6-4342-B048-85BDC9FD1C3A}</a:tableStyleId>
              </a:tblPr>
              <a:tblGrid>
                <a:gridCol w="91440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804672">
                <a:tc>
                  <a:txBody>
                    <a:bodyPr/>
                    <a:lstStyle/>
                    <a:p>
                      <a:r>
                        <a:rPr sz="1300" b="1">
                          <a:solidFill>
                            <a:srgbClr val="FFFFFF"/>
                          </a:solidFill>
                        </a:rPr>
                        <a:t>Type</a:t>
                      </a:r>
                    </a:p>
                  </a:txBody>
                  <a:tcPr marL="54864" marR="54864" marT="27432" marB="27432" anchor="ctr">
                    <a:solidFill>
                      <a:srgbClr val="4472C4"/>
                    </a:solidFill>
                  </a:tcPr>
                </a:tc>
                <a:tc>
                  <a:txBody>
                    <a:bodyPr/>
                    <a:lstStyle/>
                    <a:p>
                      <a:r>
                        <a:rPr sz="1300" b="1">
                          <a:solidFill>
                            <a:srgbClr val="FFFFFF"/>
                          </a:solidFill>
                        </a:rPr>
                        <a:t>Question</a:t>
                      </a:r>
                    </a:p>
                  </a:txBody>
                  <a:tcPr marL="54864" marR="54864" marT="27432" marB="27432" anchor="ctr">
                    <a:solidFill>
                      <a:srgbClr val="4472C4"/>
                    </a:solidFill>
                  </a:tcPr>
                </a:tc>
                <a:tc>
                  <a:txBody>
                    <a:bodyPr/>
                    <a:lstStyle/>
                    <a:p>
                      <a:r>
                        <a:rPr sz="1300" b="1">
                          <a:solidFill>
                            <a:srgbClr val="FFFFFF"/>
                          </a:solidFill>
                        </a:rPr>
                        <a:t>Options considered</a:t>
                      </a:r>
                    </a:p>
                  </a:txBody>
                  <a:tcPr marL="54864" marR="54864" marT="27432" marB="27432" anchor="ctr">
                    <a:solidFill>
                      <a:srgbClr val="4472C4"/>
                    </a:solidFill>
                  </a:tcPr>
                </a:tc>
                <a:tc>
                  <a:txBody>
                    <a:bodyPr/>
                    <a:lstStyle/>
                    <a:p>
                      <a:r>
                        <a:rPr sz="1300" b="1">
                          <a:solidFill>
                            <a:srgbClr val="FFFFFF"/>
                          </a:solidFill>
                        </a:rPr>
                        <a:t>WRS result</a:t>
                      </a:r>
                    </a:p>
                  </a:txBody>
                  <a:tcPr marL="54864" marR="54864" marT="27432" marB="27432" anchor="ctr">
                    <a:solidFill>
                      <a:srgbClr val="4472C4"/>
                    </a:solidFill>
                  </a:tcPr>
                </a:tc>
                <a:extLst>
                  <a:ext uri="{0D108BD9-81ED-4DB2-BD59-A6C34878D82A}">
                    <a16:rowId xmlns:a16="http://schemas.microsoft.com/office/drawing/2014/main" val="10000"/>
                  </a:ext>
                </a:extLst>
              </a:tr>
              <a:tr h="804672">
                <a:tc>
                  <a:txBody>
                    <a:bodyPr/>
                    <a:lstStyle/>
                    <a:p>
                      <a:r>
                        <a:rPr sz="1300" i="0">
                          <a:solidFill>
                            <a:srgbClr val="262626"/>
                          </a:solidFill>
                        </a:rPr>
                        <a:t>What-if</a:t>
                      </a:r>
                    </a:p>
                  </a:txBody>
                  <a:tcPr marL="54864" marR="54864" marT="27432" marB="27432" anchor="ctr">
                    <a:solidFill>
                      <a:srgbClr val="FFFFFF"/>
                    </a:solidFill>
                  </a:tcPr>
                </a:tc>
                <a:tc>
                  <a:txBody>
                    <a:bodyPr/>
                    <a:lstStyle/>
                    <a:p>
                      <a:r>
                        <a:rPr sz="1300" i="0">
                          <a:solidFill>
                            <a:srgbClr val="262626"/>
                          </a:solidFill>
                        </a:rPr>
                        <a:t>Start location can't be confirmed?</a:t>
                      </a:r>
                    </a:p>
                  </a:txBody>
                  <a:tcPr marL="54864" marR="54864" marT="27432" marB="27432" anchor="ctr">
                    <a:solidFill>
                      <a:srgbClr val="FFFFFF"/>
                    </a:solidFill>
                  </a:tcPr>
                </a:tc>
                <a:tc>
                  <a:txBody>
                    <a:bodyPr/>
                    <a:lstStyle/>
                    <a:p>
                      <a:r>
                        <a:rPr sz="1300" i="0">
                          <a:solidFill>
                            <a:srgbClr val="262626"/>
                          </a:solidFill>
                        </a:rPr>
                        <a:t>(i) guess and continue  (ii) withhold guidance and ask</a:t>
                      </a:r>
                    </a:p>
                  </a:txBody>
                  <a:tcPr marL="54864" marR="54864" marT="27432" marB="27432" anchor="ctr">
                    <a:solidFill>
                      <a:srgbClr val="FFFFFF"/>
                    </a:solidFill>
                  </a:tcPr>
                </a:tc>
                <a:tc>
                  <a:txBody>
                    <a:bodyPr/>
                    <a:lstStyle/>
                    <a:p>
                      <a:r>
                        <a:rPr sz="1300" i="0">
                          <a:solidFill>
                            <a:srgbClr val="262626"/>
                          </a:solidFill>
                        </a:rPr>
                        <a:t>FR05, NFR04</a:t>
                      </a:r>
                    </a:p>
                  </a:txBody>
                  <a:tcPr marL="54864" marR="54864" marT="27432" marB="27432" anchor="ctr">
                    <a:solidFill>
                      <a:srgbClr val="FFFFFF"/>
                    </a:solidFill>
                  </a:tcPr>
                </a:tc>
                <a:extLst>
                  <a:ext uri="{0D108BD9-81ED-4DB2-BD59-A6C34878D82A}">
                    <a16:rowId xmlns:a16="http://schemas.microsoft.com/office/drawing/2014/main" val="10001"/>
                  </a:ext>
                </a:extLst>
              </a:tr>
              <a:tr h="804672">
                <a:tc>
                  <a:txBody>
                    <a:bodyPr/>
                    <a:lstStyle/>
                    <a:p>
                      <a:r>
                        <a:rPr sz="1300" i="0">
                          <a:solidFill>
                            <a:srgbClr val="262626"/>
                          </a:solidFill>
                        </a:rPr>
                        <a:t>What-if</a:t>
                      </a:r>
                    </a:p>
                  </a:txBody>
                  <a:tcPr marL="54864" marR="54864" marT="27432" marB="27432" anchor="ctr">
                    <a:solidFill>
                      <a:srgbClr val="F2F2F2"/>
                    </a:solidFill>
                  </a:tcPr>
                </a:tc>
                <a:tc>
                  <a:txBody>
                    <a:bodyPr/>
                    <a:lstStyle/>
                    <a:p>
                      <a:r>
                        <a:rPr sz="1300" i="0">
                          <a:solidFill>
                            <a:srgbClr val="262626"/>
                          </a:solidFill>
                        </a:rPr>
                        <a:t>Destination name matches two rooms?</a:t>
                      </a:r>
                    </a:p>
                  </a:txBody>
                  <a:tcPr marL="54864" marR="54864" marT="27432" marB="27432" anchor="ctr">
                    <a:solidFill>
                      <a:srgbClr val="F2F2F2"/>
                    </a:solidFill>
                  </a:tcPr>
                </a:tc>
                <a:tc>
                  <a:txBody>
                    <a:bodyPr/>
                    <a:lstStyle/>
                    <a:p>
                      <a:r>
                        <a:rPr sz="1300" i="0">
                          <a:solidFill>
                            <a:srgbClr val="262626"/>
                          </a:solidFill>
                        </a:rPr>
                        <a:t>(i) pick the first  (ii) read alternatives and ask</a:t>
                      </a:r>
                    </a:p>
                  </a:txBody>
                  <a:tcPr marL="54864" marR="54864" marT="27432" marB="27432" anchor="ctr">
                    <a:solidFill>
                      <a:srgbClr val="F2F2F2"/>
                    </a:solidFill>
                  </a:tcPr>
                </a:tc>
                <a:tc>
                  <a:txBody>
                    <a:bodyPr/>
                    <a:lstStyle/>
                    <a:p>
                      <a:r>
                        <a:rPr sz="1300" i="0">
                          <a:solidFill>
                            <a:srgbClr val="262626"/>
                          </a:solidFill>
                        </a:rPr>
                        <a:t>FR04</a:t>
                      </a:r>
                    </a:p>
                  </a:txBody>
                  <a:tcPr marL="54864" marR="54864" marT="27432" marB="27432" anchor="ctr">
                    <a:solidFill>
                      <a:srgbClr val="F2F2F2"/>
                    </a:solidFill>
                  </a:tcPr>
                </a:tc>
                <a:extLst>
                  <a:ext uri="{0D108BD9-81ED-4DB2-BD59-A6C34878D82A}">
                    <a16:rowId xmlns:a16="http://schemas.microsoft.com/office/drawing/2014/main" val="10002"/>
                  </a:ext>
                </a:extLst>
              </a:tr>
              <a:tr h="804672">
                <a:tc>
                  <a:txBody>
                    <a:bodyPr/>
                    <a:lstStyle/>
                    <a:p>
                      <a:r>
                        <a:rPr sz="1300" i="0">
                          <a:solidFill>
                            <a:srgbClr val="262626"/>
                          </a:solidFill>
                        </a:rPr>
                        <a:t>What-if</a:t>
                      </a:r>
                    </a:p>
                  </a:txBody>
                  <a:tcPr marL="54864" marR="54864" marT="27432" marB="27432" anchor="ctr">
                    <a:solidFill>
                      <a:srgbClr val="FFFFFF"/>
                    </a:solidFill>
                  </a:tcPr>
                </a:tc>
                <a:tc>
                  <a:txBody>
                    <a:bodyPr/>
                    <a:lstStyle/>
                    <a:p>
                      <a:r>
                        <a:rPr sz="1300" i="0">
                          <a:solidFill>
                            <a:srgbClr val="262626"/>
                          </a:solidFill>
                        </a:rPr>
                        <a:t>Stevie misses the turn?</a:t>
                      </a:r>
                    </a:p>
                  </a:txBody>
                  <a:tcPr marL="54864" marR="54864" marT="27432" marB="27432" anchor="ctr">
                    <a:solidFill>
                      <a:srgbClr val="FFFFFF"/>
                    </a:solidFill>
                  </a:tcPr>
                </a:tc>
                <a:tc>
                  <a:txBody>
                    <a:bodyPr/>
                    <a:lstStyle/>
                    <a:p>
                      <a:r>
                        <a:rPr sz="1300" i="0">
                          <a:solidFill>
                            <a:srgbClr val="262626"/>
                          </a:solidFill>
                        </a:rPr>
                        <a:t>(i) keep giving original directions  (ii) detect at landmark and reroute</a:t>
                      </a:r>
                    </a:p>
                  </a:txBody>
                  <a:tcPr marL="54864" marR="54864" marT="27432" marB="27432" anchor="ctr">
                    <a:solidFill>
                      <a:srgbClr val="FFFFFF"/>
                    </a:solidFill>
                  </a:tcPr>
                </a:tc>
                <a:tc>
                  <a:txBody>
                    <a:bodyPr/>
                    <a:lstStyle/>
                    <a:p>
                      <a:r>
                        <a:rPr sz="1300" i="0">
                          <a:solidFill>
                            <a:srgbClr val="262626"/>
                          </a:solidFill>
                        </a:rPr>
                        <a:t>FR09, FR10</a:t>
                      </a:r>
                    </a:p>
                  </a:txBody>
                  <a:tcPr marL="54864" marR="54864" marT="27432" marB="27432" anchor="ctr">
                    <a:solidFill>
                      <a:srgbClr val="FFFFFF"/>
                    </a:solidFill>
                  </a:tcPr>
                </a:tc>
                <a:extLst>
                  <a:ext uri="{0D108BD9-81ED-4DB2-BD59-A6C34878D82A}">
                    <a16:rowId xmlns:a16="http://schemas.microsoft.com/office/drawing/2014/main" val="10003"/>
                  </a:ext>
                </a:extLst>
              </a:tr>
              <a:tr h="804672">
                <a:tc>
                  <a:txBody>
                    <a:bodyPr/>
                    <a:lstStyle/>
                    <a:p>
                      <a:r>
                        <a:rPr sz="1300" i="0">
                          <a:solidFill>
                            <a:srgbClr val="262626"/>
                          </a:solidFill>
                        </a:rPr>
                        <a:t>What-if</a:t>
                      </a:r>
                    </a:p>
                  </a:txBody>
                  <a:tcPr marL="54864" marR="54864" marT="27432" marB="27432" anchor="ctr">
                    <a:solidFill>
                      <a:srgbClr val="F2F2F2"/>
                    </a:solidFill>
                  </a:tcPr>
                </a:tc>
                <a:tc>
                  <a:txBody>
                    <a:bodyPr/>
                    <a:lstStyle/>
                    <a:p>
                      <a:r>
                        <a:rPr sz="1300" i="0">
                          <a:solidFill>
                            <a:srgbClr val="262626"/>
                          </a:solidFill>
                        </a:rPr>
                        <a:t>Hallway is blocked?</a:t>
                      </a:r>
                    </a:p>
                  </a:txBody>
                  <a:tcPr marL="54864" marR="54864" marT="27432" marB="27432" anchor="ctr">
                    <a:solidFill>
                      <a:srgbClr val="F2F2F2"/>
                    </a:solidFill>
                  </a:tcPr>
                </a:tc>
                <a:tc>
                  <a:txBody>
                    <a:bodyPr/>
                    <a:lstStyle/>
                    <a:p>
                      <a:r>
                        <a:rPr sz="1300" i="0">
                          <a:solidFill>
                            <a:srgbClr val="262626"/>
                          </a:solidFill>
                        </a:rPr>
                        <a:t>(i) suggest a sidestep  (ii) stop and offer alternate route or help</a:t>
                      </a:r>
                    </a:p>
                  </a:txBody>
                  <a:tcPr marL="54864" marR="54864" marT="27432" marB="27432" anchor="ctr">
                    <a:solidFill>
                      <a:srgbClr val="F2F2F2"/>
                    </a:solidFill>
                  </a:tcPr>
                </a:tc>
                <a:tc>
                  <a:txBody>
                    <a:bodyPr/>
                    <a:lstStyle/>
                    <a:p>
                      <a:r>
                        <a:rPr sz="1300" i="0">
                          <a:solidFill>
                            <a:srgbClr val="262626"/>
                          </a:solidFill>
                        </a:rPr>
                        <a:t>FR13, FR14</a:t>
                      </a:r>
                    </a:p>
                  </a:txBody>
                  <a:tcPr marL="54864" marR="54864" marT="27432" marB="27432" anchor="ctr">
                    <a:solidFill>
                      <a:srgbClr val="F2F2F2"/>
                    </a:solidFill>
                  </a:tcPr>
                </a:tc>
                <a:extLst>
                  <a:ext uri="{0D108BD9-81ED-4DB2-BD59-A6C34878D82A}">
                    <a16:rowId xmlns:a16="http://schemas.microsoft.com/office/drawing/2014/main" val="10004"/>
                  </a:ext>
                </a:extLst>
              </a:tr>
              <a:tr h="804672">
                <a:tc>
                  <a:txBody>
                    <a:bodyPr/>
                    <a:lstStyle/>
                    <a:p>
                      <a:r>
                        <a:rPr sz="1300" i="0">
                          <a:solidFill>
                            <a:srgbClr val="262626"/>
                          </a:solidFill>
                        </a:rPr>
                        <a:t>What-if</a:t>
                      </a:r>
                    </a:p>
                  </a:txBody>
                  <a:tcPr marL="54864" marR="54864" marT="27432" marB="27432" anchor="ctr">
                    <a:solidFill>
                      <a:srgbClr val="FFFFFF"/>
                    </a:solidFill>
                  </a:tcPr>
                </a:tc>
                <a:tc>
                  <a:txBody>
                    <a:bodyPr/>
                    <a:lstStyle/>
                    <a:p>
                      <a:r>
                        <a:rPr sz="1300" i="0">
                          <a:solidFill>
                            <a:srgbClr val="262626"/>
                          </a:solidFill>
                        </a:rPr>
                        <a:t>Building isn't mapped?</a:t>
                      </a:r>
                    </a:p>
                  </a:txBody>
                  <a:tcPr marL="54864" marR="54864" marT="27432" marB="27432" anchor="ctr">
                    <a:solidFill>
                      <a:srgbClr val="FFFFFF"/>
                    </a:solidFill>
                  </a:tcPr>
                </a:tc>
                <a:tc>
                  <a:txBody>
                    <a:bodyPr/>
                    <a:lstStyle/>
                    <a:p>
                      <a:r>
                        <a:rPr sz="1300" i="0">
                          <a:solidFill>
                            <a:srgbClr val="262626"/>
                          </a:solidFill>
                        </a:rPr>
                        <a:t>(i) attempt anyway  (ii) announce no route available</a:t>
                      </a:r>
                    </a:p>
                  </a:txBody>
                  <a:tcPr marL="54864" marR="54864" marT="27432" marB="27432" anchor="ctr">
                    <a:solidFill>
                      <a:srgbClr val="FFFFFF"/>
                    </a:solidFill>
                  </a:tcPr>
                </a:tc>
                <a:tc>
                  <a:txBody>
                    <a:bodyPr/>
                    <a:lstStyle/>
                    <a:p>
                      <a:r>
                        <a:rPr sz="1300" i="0">
                          <a:solidFill>
                            <a:srgbClr val="262626"/>
                          </a:solidFill>
                        </a:rPr>
                        <a:t>FR01, NFR08</a:t>
                      </a:r>
                    </a:p>
                  </a:txBody>
                  <a:tcPr marL="54864" marR="54864"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4343400" y="6035040"/>
            <a:ext cx="7315200" cy="365760"/>
          </a:xfrm>
          <a:prstGeom prst="rect">
            <a:avLst/>
          </a:prstGeom>
          <a:noFill/>
        </p:spPr>
        <p:txBody>
          <a:bodyPr wrap="square" anchor="t">
            <a:spAutoFit/>
          </a:bodyPr>
          <a:lstStyle/>
          <a:p>
            <a:pPr algn="l">
              <a:spcAft>
                <a:spcPts val="600"/>
              </a:spcAft>
            </a:pPr>
            <a:r>
              <a:rPr sz="1200" b="0" i="0">
                <a:solidFill>
                  <a:srgbClr val="595959"/>
                </a:solidFill>
              </a:rPr>
              <a:t>The second option in each row is the one we chose.</a:t>
            </a:r>
          </a:p>
        </p:txBody>
      </p:sp>
      <p:pic>
        <p:nvPicPr>
          <p:cNvPr id="15" name="Audio 14">
            <a:hlinkClick r:id="" action="ppaction://media"/>
            <a:extLst>
              <a:ext uri="{FF2B5EF4-FFF2-40B4-BE49-F238E27FC236}">
                <a16:creationId xmlns:a16="http://schemas.microsoft.com/office/drawing/2014/main" id="{33356230-2D09-5CFA-3977-B043F4710A64}"/>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87500" t="-287500" r="-287500" b="-28750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95913222"/>
      </p:ext>
    </p:extLst>
  </p:cSld>
  <p:clrMapOvr>
    <a:masterClrMapping/>
  </p:clrMapOvr>
  <mc:AlternateContent xmlns:mc="http://schemas.openxmlformats.org/markup-compatibility/2006">
    <mc:Choice xmlns:p14="http://schemas.microsoft.com/office/powerpoint/2010/main" Requires="p14">
      <p:transition spd="slow" p14:dur="2000" advTm="43008"/>
    </mc:Choice>
    <mc:Fallback>
      <p:transition spd="slow" advTm="4300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5"/>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30352" y="292608"/>
            <a:ext cx="11155680" cy="548640"/>
          </a:xfrm>
          <a:prstGeom prst="rect">
            <a:avLst/>
          </a:prstGeom>
          <a:noFill/>
        </p:spPr>
        <p:txBody>
          <a:bodyPr wrap="square" anchor="t">
            <a:spAutoFit/>
          </a:bodyPr>
          <a:lstStyle/>
          <a:p>
            <a:pPr algn="l">
              <a:spcAft>
                <a:spcPts val="600"/>
              </a:spcAft>
            </a:pPr>
            <a:r>
              <a:rPr sz="2800" b="1" i="0">
                <a:solidFill>
                  <a:srgbClr val="262626"/>
                </a:solidFill>
              </a:rPr>
              <a:t>Analysis of Pair 1: When, Who, What-Kinds-Of, How-To</a:t>
            </a:r>
          </a:p>
        </p:txBody>
      </p:sp>
      <p:graphicFrame>
        <p:nvGraphicFramePr>
          <p:cNvPr id="3" name="Table 2"/>
          <p:cNvGraphicFramePr>
            <a:graphicFrameLocks noGrp="1"/>
          </p:cNvGraphicFramePr>
          <p:nvPr/>
        </p:nvGraphicFramePr>
        <p:xfrm>
          <a:off x="530352" y="1051560"/>
          <a:ext cx="11128248" cy="5120640"/>
        </p:xfrm>
        <a:graphic>
          <a:graphicData uri="http://schemas.openxmlformats.org/drawingml/2006/table">
            <a:tbl>
              <a:tblPr firstRow="1">
                <a:tableStyleId>{5C22544A-7EE6-4342-B048-85BDC9FD1C3A}</a:tableStyleId>
              </a:tblPr>
              <a:tblGrid>
                <a:gridCol w="160020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4773168">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512064">
                <a:tc>
                  <a:txBody>
                    <a:bodyPr/>
                    <a:lstStyle/>
                    <a:p>
                      <a:r>
                        <a:rPr sz="1400" b="1">
                          <a:solidFill>
                            <a:srgbClr val="FFFFFF"/>
                          </a:solidFill>
                        </a:rPr>
                        <a:t>Type</a:t>
                      </a:r>
                    </a:p>
                  </a:txBody>
                  <a:tcPr marL="54864" marR="54864" marT="27432" marB="27432" anchor="ctr">
                    <a:solidFill>
                      <a:srgbClr val="4472C4"/>
                    </a:solidFill>
                  </a:tcPr>
                </a:tc>
                <a:tc>
                  <a:txBody>
                    <a:bodyPr/>
                    <a:lstStyle/>
                    <a:p>
                      <a:r>
                        <a:rPr sz="1400" b="1">
                          <a:solidFill>
                            <a:srgbClr val="FFFFFF"/>
                          </a:solidFill>
                        </a:rPr>
                        <a:t>Question</a:t>
                      </a:r>
                    </a:p>
                  </a:txBody>
                  <a:tcPr marL="54864" marR="54864" marT="27432" marB="27432" anchor="ctr">
                    <a:solidFill>
                      <a:srgbClr val="4472C4"/>
                    </a:solidFill>
                  </a:tcPr>
                </a:tc>
                <a:tc>
                  <a:txBody>
                    <a:bodyPr/>
                    <a:lstStyle/>
                    <a:p>
                      <a:r>
                        <a:rPr sz="1400" b="1">
                          <a:solidFill>
                            <a:srgbClr val="FFFFFF"/>
                          </a:solidFill>
                        </a:rPr>
                        <a:t>Options considered</a:t>
                      </a:r>
                    </a:p>
                  </a:txBody>
                  <a:tcPr marL="54864" marR="54864" marT="27432" marB="27432" anchor="ctr">
                    <a:solidFill>
                      <a:srgbClr val="4472C4"/>
                    </a:solidFill>
                  </a:tcPr>
                </a:tc>
                <a:tc>
                  <a:txBody>
                    <a:bodyPr/>
                    <a:lstStyle/>
                    <a:p>
                      <a:r>
                        <a:rPr sz="1400" b="1">
                          <a:solidFill>
                            <a:srgbClr val="FFFFFF"/>
                          </a:solidFill>
                        </a:rPr>
                        <a:t>WRS result</a:t>
                      </a:r>
                    </a:p>
                  </a:txBody>
                  <a:tcPr marL="54864" marR="54864" marT="27432" marB="27432" anchor="ctr">
                    <a:solidFill>
                      <a:srgbClr val="4472C4"/>
                    </a:solidFill>
                  </a:tcPr>
                </a:tc>
                <a:extLst>
                  <a:ext uri="{0D108BD9-81ED-4DB2-BD59-A6C34878D82A}">
                    <a16:rowId xmlns:a16="http://schemas.microsoft.com/office/drawing/2014/main" val="10000"/>
                  </a:ext>
                </a:extLst>
              </a:tr>
              <a:tr h="512064">
                <a:tc>
                  <a:txBody>
                    <a:bodyPr/>
                    <a:lstStyle/>
                    <a:p>
                      <a:r>
                        <a:rPr sz="1400" i="0">
                          <a:solidFill>
                            <a:srgbClr val="262626"/>
                          </a:solidFill>
                        </a:rPr>
                        <a:t>When</a:t>
                      </a:r>
                    </a:p>
                  </a:txBody>
                  <a:tcPr marL="54864" marR="54864" marT="27432" marB="27432" anchor="ctr">
                    <a:solidFill>
                      <a:srgbClr val="FFFFFF"/>
                    </a:solidFill>
                  </a:tcPr>
                </a:tc>
                <a:tc>
                  <a:txBody>
                    <a:bodyPr/>
                    <a:lstStyle/>
                    <a:p>
                      <a:r>
                        <a:rPr sz="1400" i="0">
                          <a:solidFill>
                            <a:srgbClr val="262626"/>
                          </a:solidFill>
                        </a:rPr>
                        <a:t>When should a turn be announced?</a:t>
                      </a:r>
                    </a:p>
                  </a:txBody>
                  <a:tcPr marL="54864" marR="54864" marT="27432" marB="27432" anchor="ctr">
                    <a:solidFill>
                      <a:srgbClr val="FFFFFF"/>
                    </a:solidFill>
                  </a:tcPr>
                </a:tc>
                <a:tc>
                  <a:txBody>
                    <a:bodyPr/>
                    <a:lstStyle/>
                    <a:p>
                      <a:r>
                        <a:rPr sz="1400" i="0">
                          <a:solidFill>
                            <a:srgbClr val="262626"/>
                          </a:solidFill>
                        </a:rPr>
                        <a:t>(i) at the turn only  (ii) in advance and at the decision point</a:t>
                      </a:r>
                    </a:p>
                  </a:txBody>
                  <a:tcPr marL="54864" marR="54864" marT="27432" marB="27432" anchor="ctr">
                    <a:solidFill>
                      <a:srgbClr val="FFFFFF"/>
                    </a:solidFill>
                  </a:tcPr>
                </a:tc>
                <a:tc>
                  <a:txBody>
                    <a:bodyPr/>
                    <a:lstStyle/>
                    <a:p>
                      <a:r>
                        <a:rPr sz="1400" i="0">
                          <a:solidFill>
                            <a:srgbClr val="262626"/>
                          </a:solidFill>
                        </a:rPr>
                        <a:t>FR08</a:t>
                      </a:r>
                    </a:p>
                  </a:txBody>
                  <a:tcPr marL="54864" marR="54864" marT="27432" marB="27432" anchor="ctr">
                    <a:solidFill>
                      <a:srgbClr val="FFFFFF"/>
                    </a:solidFill>
                  </a:tcPr>
                </a:tc>
                <a:extLst>
                  <a:ext uri="{0D108BD9-81ED-4DB2-BD59-A6C34878D82A}">
                    <a16:rowId xmlns:a16="http://schemas.microsoft.com/office/drawing/2014/main" val="10001"/>
                  </a:ext>
                </a:extLst>
              </a:tr>
              <a:tr h="512064">
                <a:tc>
                  <a:txBody>
                    <a:bodyPr/>
                    <a:lstStyle/>
                    <a:p>
                      <a:r>
                        <a:rPr sz="1400" i="0">
                          <a:solidFill>
                            <a:srgbClr val="262626"/>
                          </a:solidFill>
                        </a:rPr>
                        <a:t>When</a:t>
                      </a:r>
                    </a:p>
                  </a:txBody>
                  <a:tcPr marL="54864" marR="54864" marT="27432" marB="27432" anchor="ctr">
                    <a:solidFill>
                      <a:srgbClr val="F2F2F2"/>
                    </a:solidFill>
                  </a:tcPr>
                </a:tc>
                <a:tc>
                  <a:txBody>
                    <a:bodyPr/>
                    <a:lstStyle/>
                    <a:p>
                      <a:r>
                        <a:rPr sz="1400" i="0">
                          <a:solidFill>
                            <a:srgbClr val="262626"/>
                          </a:solidFill>
                        </a:rPr>
                        <a:t>When should guidance pause?</a:t>
                      </a:r>
                    </a:p>
                  </a:txBody>
                  <a:tcPr marL="54864" marR="54864" marT="27432" marB="27432" anchor="ctr">
                    <a:solidFill>
                      <a:srgbClr val="F2F2F2"/>
                    </a:solidFill>
                  </a:tcPr>
                </a:tc>
                <a:tc>
                  <a:txBody>
                    <a:bodyPr/>
                    <a:lstStyle/>
                    <a:p>
                      <a:r>
                        <a:rPr sz="1400" i="0">
                          <a:solidFill>
                            <a:srgbClr val="262626"/>
                          </a:solidFill>
                        </a:rPr>
                        <a:t>(i) never  (ii) whenever a landmark is unconfirmed</a:t>
                      </a:r>
                    </a:p>
                  </a:txBody>
                  <a:tcPr marL="54864" marR="54864" marT="27432" marB="27432" anchor="ctr">
                    <a:solidFill>
                      <a:srgbClr val="F2F2F2"/>
                    </a:solidFill>
                  </a:tcPr>
                </a:tc>
                <a:tc>
                  <a:txBody>
                    <a:bodyPr/>
                    <a:lstStyle/>
                    <a:p>
                      <a:r>
                        <a:rPr sz="1400" i="0">
                          <a:solidFill>
                            <a:srgbClr val="262626"/>
                          </a:solidFill>
                        </a:rPr>
                        <a:t>NFR04</a:t>
                      </a:r>
                    </a:p>
                  </a:txBody>
                  <a:tcPr marL="54864" marR="54864" marT="27432" marB="27432" anchor="ctr">
                    <a:solidFill>
                      <a:srgbClr val="F2F2F2"/>
                    </a:solidFill>
                  </a:tcPr>
                </a:tc>
                <a:extLst>
                  <a:ext uri="{0D108BD9-81ED-4DB2-BD59-A6C34878D82A}">
                    <a16:rowId xmlns:a16="http://schemas.microsoft.com/office/drawing/2014/main" val="10002"/>
                  </a:ext>
                </a:extLst>
              </a:tr>
              <a:tr h="512064">
                <a:tc>
                  <a:txBody>
                    <a:bodyPr/>
                    <a:lstStyle/>
                    <a:p>
                      <a:r>
                        <a:rPr sz="1400" i="0">
                          <a:solidFill>
                            <a:srgbClr val="262626"/>
                          </a:solidFill>
                        </a:rPr>
                        <a:t>Who</a:t>
                      </a:r>
                    </a:p>
                  </a:txBody>
                  <a:tcPr marL="54864" marR="54864" marT="27432" marB="27432" anchor="ctr">
                    <a:solidFill>
                      <a:srgbClr val="FFFFFF"/>
                    </a:solidFill>
                  </a:tcPr>
                </a:tc>
                <a:tc>
                  <a:txBody>
                    <a:bodyPr/>
                    <a:lstStyle/>
                    <a:p>
                      <a:r>
                        <a:rPr sz="1400" i="0">
                          <a:solidFill>
                            <a:srgbClr val="262626"/>
                          </a:solidFill>
                        </a:rPr>
                        <a:t>Who supplies the map?</a:t>
                      </a:r>
                    </a:p>
                  </a:txBody>
                  <a:tcPr marL="54864" marR="54864" marT="27432" marB="27432" anchor="ctr">
                    <a:solidFill>
                      <a:srgbClr val="FFFFFF"/>
                    </a:solidFill>
                  </a:tcPr>
                </a:tc>
                <a:tc>
                  <a:txBody>
                    <a:bodyPr/>
                    <a:lstStyle/>
                    <a:p>
                      <a:r>
                        <a:rPr sz="1400" i="0">
                          <a:solidFill>
                            <a:srgbClr val="262626"/>
                          </a:solidFill>
                        </a:rPr>
                        <a:t>(i) caretaker  (ii) verified map provider</a:t>
                      </a:r>
                    </a:p>
                  </a:txBody>
                  <a:tcPr marL="54864" marR="54864" marT="27432" marB="27432" anchor="ctr">
                    <a:solidFill>
                      <a:srgbClr val="FFFFFF"/>
                    </a:solidFill>
                  </a:tcPr>
                </a:tc>
                <a:tc>
                  <a:txBody>
                    <a:bodyPr/>
                    <a:lstStyle/>
                    <a:p>
                      <a:r>
                        <a:rPr sz="1400" i="0">
                          <a:solidFill>
                            <a:srgbClr val="262626"/>
                          </a:solidFill>
                        </a:rPr>
                        <a:t>FR02</a:t>
                      </a:r>
                    </a:p>
                  </a:txBody>
                  <a:tcPr marL="54864" marR="54864" marT="27432" marB="27432" anchor="ctr">
                    <a:solidFill>
                      <a:srgbClr val="FFFFFF"/>
                    </a:solidFill>
                  </a:tcPr>
                </a:tc>
                <a:extLst>
                  <a:ext uri="{0D108BD9-81ED-4DB2-BD59-A6C34878D82A}">
                    <a16:rowId xmlns:a16="http://schemas.microsoft.com/office/drawing/2014/main" val="10003"/>
                  </a:ext>
                </a:extLst>
              </a:tr>
              <a:tr h="512064">
                <a:tc>
                  <a:txBody>
                    <a:bodyPr/>
                    <a:lstStyle/>
                    <a:p>
                      <a:r>
                        <a:rPr sz="1400" i="0">
                          <a:solidFill>
                            <a:srgbClr val="262626"/>
                          </a:solidFill>
                        </a:rPr>
                        <a:t>Who</a:t>
                      </a:r>
                    </a:p>
                  </a:txBody>
                  <a:tcPr marL="54864" marR="54864" marT="27432" marB="27432" anchor="ctr">
                    <a:solidFill>
                      <a:srgbClr val="F2F2F2"/>
                    </a:solidFill>
                  </a:tcPr>
                </a:tc>
                <a:tc>
                  <a:txBody>
                    <a:bodyPr/>
                    <a:lstStyle/>
                    <a:p>
                      <a:r>
                        <a:rPr sz="1400" i="0">
                          <a:solidFill>
                            <a:srgbClr val="262626"/>
                          </a:solidFill>
                        </a:rPr>
                        <a:t>Who picks the route?</a:t>
                      </a:r>
                    </a:p>
                  </a:txBody>
                  <a:tcPr marL="54864" marR="54864" marT="27432" marB="27432" anchor="ctr">
                    <a:solidFill>
                      <a:srgbClr val="F2F2F2"/>
                    </a:solidFill>
                  </a:tcPr>
                </a:tc>
                <a:tc>
                  <a:txBody>
                    <a:bodyPr/>
                    <a:lstStyle/>
                    <a:p>
                      <a:r>
                        <a:rPr sz="1400" i="0">
                          <a:solidFill>
                            <a:srgbClr val="262626"/>
                          </a:solidFill>
                        </a:rPr>
                        <a:t>(i) app picks fastest  (ii) Stevie chooses among suitable routes</a:t>
                      </a:r>
                    </a:p>
                  </a:txBody>
                  <a:tcPr marL="54864" marR="54864" marT="27432" marB="27432" anchor="ctr">
                    <a:solidFill>
                      <a:srgbClr val="F2F2F2"/>
                    </a:solidFill>
                  </a:tcPr>
                </a:tc>
                <a:tc>
                  <a:txBody>
                    <a:bodyPr/>
                    <a:lstStyle/>
                    <a:p>
                      <a:r>
                        <a:rPr sz="1400" i="0">
                          <a:solidFill>
                            <a:srgbClr val="262626"/>
                          </a:solidFill>
                        </a:rPr>
                        <a:t>FR07</a:t>
                      </a:r>
                    </a:p>
                  </a:txBody>
                  <a:tcPr marL="54864" marR="54864" marT="27432" marB="27432" anchor="ctr">
                    <a:solidFill>
                      <a:srgbClr val="F2F2F2"/>
                    </a:solidFill>
                  </a:tcPr>
                </a:tc>
                <a:extLst>
                  <a:ext uri="{0D108BD9-81ED-4DB2-BD59-A6C34878D82A}">
                    <a16:rowId xmlns:a16="http://schemas.microsoft.com/office/drawing/2014/main" val="10004"/>
                  </a:ext>
                </a:extLst>
              </a:tr>
              <a:tr h="512064">
                <a:tc>
                  <a:txBody>
                    <a:bodyPr/>
                    <a:lstStyle/>
                    <a:p>
                      <a:r>
                        <a:rPr sz="1400" i="0">
                          <a:solidFill>
                            <a:srgbClr val="262626"/>
                          </a:solidFill>
                        </a:rPr>
                        <a:t>What-kinds-of</a:t>
                      </a:r>
                    </a:p>
                  </a:txBody>
                  <a:tcPr marL="54864" marR="54864" marT="27432" marB="27432" anchor="ctr">
                    <a:solidFill>
                      <a:srgbClr val="FFFFFF"/>
                    </a:solidFill>
                  </a:tcPr>
                </a:tc>
                <a:tc>
                  <a:txBody>
                    <a:bodyPr/>
                    <a:lstStyle/>
                    <a:p>
                      <a:r>
                        <a:rPr sz="1400" i="0">
                          <a:solidFill>
                            <a:srgbClr val="262626"/>
                          </a:solidFill>
                        </a:rPr>
                        <a:t>What kinds of routes are offered?</a:t>
                      </a:r>
                    </a:p>
                  </a:txBody>
                  <a:tcPr marL="54864" marR="54864" marT="27432" marB="27432" anchor="ctr">
                    <a:solidFill>
                      <a:srgbClr val="FFFFFF"/>
                    </a:solidFill>
                  </a:tcPr>
                </a:tc>
                <a:tc>
                  <a:txBody>
                    <a:bodyPr/>
                    <a:lstStyle/>
                    <a:p>
                      <a:r>
                        <a:rPr sz="1400" i="0">
                          <a:solidFill>
                            <a:srgbClr val="262626"/>
                          </a:solidFill>
                        </a:rPr>
                        <a:t>(i) shortest only  (ii) filtered by accessibility, e.g. avoid stairs</a:t>
                      </a:r>
                    </a:p>
                  </a:txBody>
                  <a:tcPr marL="54864" marR="54864" marT="27432" marB="27432" anchor="ctr">
                    <a:solidFill>
                      <a:srgbClr val="FFFFFF"/>
                    </a:solidFill>
                  </a:tcPr>
                </a:tc>
                <a:tc>
                  <a:txBody>
                    <a:bodyPr/>
                    <a:lstStyle/>
                    <a:p>
                      <a:r>
                        <a:rPr sz="1400" i="0">
                          <a:solidFill>
                            <a:srgbClr val="262626"/>
                          </a:solidFill>
                        </a:rPr>
                        <a:t>FR06, FR07</a:t>
                      </a:r>
                    </a:p>
                  </a:txBody>
                  <a:tcPr marL="54864" marR="54864" marT="27432" marB="27432" anchor="ctr">
                    <a:solidFill>
                      <a:srgbClr val="FFFFFF"/>
                    </a:solidFill>
                  </a:tcPr>
                </a:tc>
                <a:extLst>
                  <a:ext uri="{0D108BD9-81ED-4DB2-BD59-A6C34878D82A}">
                    <a16:rowId xmlns:a16="http://schemas.microsoft.com/office/drawing/2014/main" val="10005"/>
                  </a:ext>
                </a:extLst>
              </a:tr>
              <a:tr h="512064">
                <a:tc>
                  <a:txBody>
                    <a:bodyPr/>
                    <a:lstStyle/>
                    <a:p>
                      <a:r>
                        <a:rPr sz="1400" i="0">
                          <a:solidFill>
                            <a:srgbClr val="262626"/>
                          </a:solidFill>
                        </a:rPr>
                        <a:t>What-kinds-of</a:t>
                      </a:r>
                    </a:p>
                  </a:txBody>
                  <a:tcPr marL="54864" marR="54864" marT="27432" marB="27432" anchor="ctr">
                    <a:solidFill>
                      <a:srgbClr val="F2F2F2"/>
                    </a:solidFill>
                  </a:tcPr>
                </a:tc>
                <a:tc>
                  <a:txBody>
                    <a:bodyPr/>
                    <a:lstStyle/>
                    <a:p>
                      <a:r>
                        <a:rPr sz="1400" i="0">
                          <a:solidFill>
                            <a:srgbClr val="262626"/>
                          </a:solidFill>
                        </a:rPr>
                        <a:t>What kind of distance cue?</a:t>
                      </a:r>
                    </a:p>
                  </a:txBody>
                  <a:tcPr marL="54864" marR="54864" marT="27432" marB="27432" anchor="ctr">
                    <a:solidFill>
                      <a:srgbClr val="F2F2F2"/>
                    </a:solidFill>
                  </a:tcPr>
                </a:tc>
                <a:tc>
                  <a:txBody>
                    <a:bodyPr/>
                    <a:lstStyle/>
                    <a:p>
                      <a:r>
                        <a:rPr sz="1400" i="0">
                          <a:solidFill>
                            <a:srgbClr val="262626"/>
                          </a:solidFill>
                        </a:rPr>
                        <a:t>(i) step counts  (ii) distance  (iii) landmarks</a:t>
                      </a:r>
                    </a:p>
                  </a:txBody>
                  <a:tcPr marL="54864" marR="54864" marT="27432" marB="27432" anchor="ctr">
                    <a:solidFill>
                      <a:srgbClr val="F2F2F2"/>
                    </a:solidFill>
                  </a:tcPr>
                </a:tc>
                <a:tc>
                  <a:txBody>
                    <a:bodyPr/>
                    <a:lstStyle/>
                    <a:p>
                      <a:r>
                        <a:rPr sz="1400" i="0">
                          <a:solidFill>
                            <a:srgbClr val="262626"/>
                          </a:solidFill>
                        </a:rPr>
                        <a:t>FR08</a:t>
                      </a:r>
                    </a:p>
                  </a:txBody>
                  <a:tcPr marL="54864" marR="54864" marT="27432" marB="27432" anchor="ctr">
                    <a:solidFill>
                      <a:srgbClr val="F2F2F2"/>
                    </a:solidFill>
                  </a:tcPr>
                </a:tc>
                <a:extLst>
                  <a:ext uri="{0D108BD9-81ED-4DB2-BD59-A6C34878D82A}">
                    <a16:rowId xmlns:a16="http://schemas.microsoft.com/office/drawing/2014/main" val="10006"/>
                  </a:ext>
                </a:extLst>
              </a:tr>
              <a:tr h="512064">
                <a:tc>
                  <a:txBody>
                    <a:bodyPr/>
                    <a:lstStyle/>
                    <a:p>
                      <a:r>
                        <a:rPr sz="1400" i="0">
                          <a:solidFill>
                            <a:srgbClr val="262626"/>
                          </a:solidFill>
                        </a:rPr>
                        <a:t>How-to</a:t>
                      </a:r>
                    </a:p>
                  </a:txBody>
                  <a:tcPr marL="54864" marR="54864" marT="27432" marB="27432" anchor="ctr">
                    <a:solidFill>
                      <a:srgbClr val="FFFFFF"/>
                    </a:solidFill>
                  </a:tcPr>
                </a:tc>
                <a:tc>
                  <a:txBody>
                    <a:bodyPr/>
                    <a:lstStyle/>
                    <a:p>
                      <a:r>
                        <a:rPr sz="1400" i="0">
                          <a:solidFill>
                            <a:srgbClr val="262626"/>
                          </a:solidFill>
                        </a:rPr>
                        <a:t>How does Stevie enter a destination?</a:t>
                      </a:r>
                    </a:p>
                  </a:txBody>
                  <a:tcPr marL="54864" marR="54864" marT="27432" marB="27432" anchor="ctr">
                    <a:solidFill>
                      <a:srgbClr val="FFFFFF"/>
                    </a:solidFill>
                  </a:tcPr>
                </a:tc>
                <a:tc>
                  <a:txBody>
                    <a:bodyPr/>
                    <a:lstStyle/>
                    <a:p>
                      <a:r>
                        <a:rPr sz="1400" i="0">
                          <a:solidFill>
                            <a:srgbClr val="262626"/>
                          </a:solidFill>
                        </a:rPr>
                        <a:t>(i) on-screen typing  (ii) voice or screen reader</a:t>
                      </a:r>
                    </a:p>
                  </a:txBody>
                  <a:tcPr marL="54864" marR="54864" marT="27432" marB="27432" anchor="ctr">
                    <a:solidFill>
                      <a:srgbClr val="FFFFFF"/>
                    </a:solidFill>
                  </a:tcPr>
                </a:tc>
                <a:tc>
                  <a:txBody>
                    <a:bodyPr/>
                    <a:lstStyle/>
                    <a:p>
                      <a:r>
                        <a:rPr sz="1400" i="0">
                          <a:solidFill>
                            <a:srgbClr val="262626"/>
                          </a:solidFill>
                        </a:rPr>
                        <a:t>FR03</a:t>
                      </a:r>
                    </a:p>
                  </a:txBody>
                  <a:tcPr marL="54864" marR="54864" marT="27432" marB="27432" anchor="ctr">
                    <a:solidFill>
                      <a:srgbClr val="FFFFFF"/>
                    </a:solidFill>
                  </a:tcPr>
                </a:tc>
                <a:extLst>
                  <a:ext uri="{0D108BD9-81ED-4DB2-BD59-A6C34878D82A}">
                    <a16:rowId xmlns:a16="http://schemas.microsoft.com/office/drawing/2014/main" val="10007"/>
                  </a:ext>
                </a:extLst>
              </a:tr>
              <a:tr h="512064">
                <a:tc>
                  <a:txBody>
                    <a:bodyPr/>
                    <a:lstStyle/>
                    <a:p>
                      <a:r>
                        <a:rPr sz="1400" i="0">
                          <a:solidFill>
                            <a:srgbClr val="262626"/>
                          </a:solidFill>
                        </a:rPr>
                        <a:t>How-to</a:t>
                      </a:r>
                    </a:p>
                  </a:txBody>
                  <a:tcPr marL="54864" marR="54864" marT="27432" marB="27432" anchor="ctr">
                    <a:solidFill>
                      <a:srgbClr val="F2F2F2"/>
                    </a:solidFill>
                  </a:tcPr>
                </a:tc>
                <a:tc>
                  <a:txBody>
                    <a:bodyPr/>
                    <a:lstStyle/>
                    <a:p>
                      <a:r>
                        <a:rPr sz="1400" i="0">
                          <a:solidFill>
                            <a:srgbClr val="262626"/>
                          </a:solidFill>
                        </a:rPr>
                        <a:t>How does THEIA know he reached the turn?</a:t>
                      </a:r>
                    </a:p>
                  </a:txBody>
                  <a:tcPr marL="54864" marR="54864" marT="27432" marB="27432" anchor="ctr">
                    <a:solidFill>
                      <a:srgbClr val="F2F2F2"/>
                    </a:solidFill>
                  </a:tcPr>
                </a:tc>
                <a:tc>
                  <a:txBody>
                    <a:bodyPr/>
                    <a:lstStyle/>
                    <a:p>
                      <a:r>
                        <a:rPr sz="1400" i="0">
                          <a:solidFill>
                            <a:srgbClr val="262626"/>
                          </a:solidFill>
                        </a:rPr>
                        <a:t>(i) automatic indoor positioning  (ii) Stevie confirms the landmark</a:t>
                      </a:r>
                    </a:p>
                  </a:txBody>
                  <a:tcPr marL="54864" marR="54864" marT="27432" marB="27432" anchor="ctr">
                    <a:solidFill>
                      <a:srgbClr val="F2F2F2"/>
                    </a:solidFill>
                  </a:tcPr>
                </a:tc>
                <a:tc>
                  <a:txBody>
                    <a:bodyPr/>
                    <a:lstStyle/>
                    <a:p>
                      <a:r>
                        <a:rPr sz="1400" i="0">
                          <a:solidFill>
                            <a:srgbClr val="262626"/>
                          </a:solidFill>
                        </a:rPr>
                        <a:t>FR09</a:t>
                      </a:r>
                    </a:p>
                  </a:txBody>
                  <a:tcPr marL="54864" marR="54864" marT="27432" marB="27432" anchor="ctr">
                    <a:solidFill>
                      <a:srgbClr val="F2F2F2"/>
                    </a:solidFill>
                  </a:tcPr>
                </a:tc>
                <a:extLst>
                  <a:ext uri="{0D108BD9-81ED-4DB2-BD59-A6C34878D82A}">
                    <a16:rowId xmlns:a16="http://schemas.microsoft.com/office/drawing/2014/main" val="10008"/>
                  </a:ext>
                </a:extLst>
              </a:tr>
              <a:tr h="512064">
                <a:tc>
                  <a:txBody>
                    <a:bodyPr/>
                    <a:lstStyle/>
                    <a:p>
                      <a:r>
                        <a:rPr sz="1400" i="0">
                          <a:solidFill>
                            <a:srgbClr val="262626"/>
                          </a:solidFill>
                        </a:rPr>
                        <a:t>How-to</a:t>
                      </a:r>
                    </a:p>
                  </a:txBody>
                  <a:tcPr marL="54864" marR="54864" marT="27432" marB="27432" anchor="ctr">
                    <a:solidFill>
                      <a:srgbClr val="FFFFFF"/>
                    </a:solidFill>
                  </a:tcPr>
                </a:tc>
                <a:tc>
                  <a:txBody>
                    <a:bodyPr/>
                    <a:lstStyle/>
                    <a:p>
                      <a:r>
                        <a:rPr sz="1400" i="0">
                          <a:solidFill>
                            <a:srgbClr val="262626"/>
                          </a:solidFill>
                        </a:rPr>
                        <a:t>How does he recover from a wrong turn?</a:t>
                      </a:r>
                    </a:p>
                  </a:txBody>
                  <a:tcPr marL="54864" marR="54864" marT="27432" marB="27432" anchor="ctr">
                    <a:solidFill>
                      <a:srgbClr val="FFFFFF"/>
                    </a:solidFill>
                  </a:tcPr>
                </a:tc>
                <a:tc>
                  <a:txBody>
                    <a:bodyPr/>
                    <a:lstStyle/>
                    <a:p>
                      <a:r>
                        <a:rPr sz="1400" i="0">
                          <a:solidFill>
                            <a:srgbClr val="262626"/>
                          </a:solidFill>
                        </a:rPr>
                        <a:t>(i) retrace manually  (ii) reroute from newly confirmed location or request help</a:t>
                      </a:r>
                    </a:p>
                  </a:txBody>
                  <a:tcPr marL="54864" marR="54864" marT="27432" marB="27432" anchor="ctr">
                    <a:solidFill>
                      <a:srgbClr val="FFFFFF"/>
                    </a:solidFill>
                  </a:tcPr>
                </a:tc>
                <a:tc>
                  <a:txBody>
                    <a:bodyPr/>
                    <a:lstStyle/>
                    <a:p>
                      <a:r>
                        <a:rPr sz="1400" i="0">
                          <a:solidFill>
                            <a:srgbClr val="262626"/>
                          </a:solidFill>
                        </a:rPr>
                        <a:t>FR10</a:t>
                      </a:r>
                    </a:p>
                  </a:txBody>
                  <a:tcPr marL="54864" marR="54864" marT="27432" marB="27432" anchor="ctr">
                    <a:solidFill>
                      <a:srgbClr val="FFFFFF"/>
                    </a:solidFill>
                  </a:tcPr>
                </a:tc>
                <a:extLst>
                  <a:ext uri="{0D108BD9-81ED-4DB2-BD59-A6C34878D82A}">
                    <a16:rowId xmlns:a16="http://schemas.microsoft.com/office/drawing/2014/main" val="10009"/>
                  </a:ext>
                </a:extLst>
              </a:tr>
            </a:tbl>
          </a:graphicData>
        </a:graphic>
      </p:graphicFrame>
      <p:pic>
        <p:nvPicPr>
          <p:cNvPr id="13" name="Audio 12">
            <a:hlinkClick r:id="" action="ppaction://media"/>
            <a:extLst>
              <a:ext uri="{FF2B5EF4-FFF2-40B4-BE49-F238E27FC236}">
                <a16:creationId xmlns:a16="http://schemas.microsoft.com/office/drawing/2014/main" id="{8EE310C1-E81C-EFC5-7A14-CC2F0E0D80B9}"/>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87500" t="-287500" r="-287500" b="-287500"/>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43604"/>
    </mc:Choice>
    <mc:Fallback>
      <p:transition spd="slow" advTm="4360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30352" y="292608"/>
            <a:ext cx="11155680" cy="548640"/>
          </a:xfrm>
          <a:prstGeom prst="rect">
            <a:avLst/>
          </a:prstGeom>
          <a:noFill/>
        </p:spPr>
        <p:txBody>
          <a:bodyPr wrap="square" anchor="t">
            <a:spAutoFit/>
          </a:bodyPr>
          <a:lstStyle/>
          <a:p>
            <a:pPr algn="l">
              <a:spcAft>
                <a:spcPts val="600"/>
              </a:spcAft>
            </a:pPr>
            <a:r>
              <a:rPr sz="2800" b="1" i="0">
                <a:solidFill>
                  <a:srgbClr val="262626"/>
                </a:solidFill>
              </a:rPr>
              <a:t>Tree-Based Analysis: Navigating to a Destination</a:t>
            </a:r>
          </a:p>
        </p:txBody>
      </p:sp>
      <p:sp>
        <p:nvSpPr>
          <p:cNvPr id="3" name="Node: Navigating to a destination"/>
          <p:cNvSpPr/>
          <p:nvPr/>
        </p:nvSpPr>
        <p:spPr>
          <a:xfrm>
            <a:off x="3931920" y="1051560"/>
            <a:ext cx="2651760" cy="566928"/>
          </a:xfrm>
          <a:prstGeom prst="roundRect">
            <a:avLst>
              <a:gd name="adj" fmla="val 18000"/>
            </a:avLst>
          </a:prstGeom>
          <a:solidFill>
            <a:srgbClr val="4472C4"/>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1">
                <a:solidFill>
                  <a:srgbClr val="FFFFFF"/>
                </a:solidFill>
              </a:rPr>
              <a:t>Navigating to a destination</a:t>
            </a:r>
          </a:p>
        </p:txBody>
      </p:sp>
      <p:sp>
        <p:nvSpPr>
          <p:cNvPr id="4" name="Node: Start confirmed"/>
          <p:cNvSpPr/>
          <p:nvPr/>
        </p:nvSpPr>
        <p:spPr>
          <a:xfrm>
            <a:off x="457200" y="2103120"/>
            <a:ext cx="1463040" cy="566928"/>
          </a:xfrm>
          <a:prstGeom prst="roundRect">
            <a:avLst>
              <a:gd name="adj" fmla="val 18000"/>
            </a:avLst>
          </a:prstGeom>
          <a:solidFill>
            <a:srgbClr val="DEEBF7"/>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0">
                <a:solidFill>
                  <a:srgbClr val="262626"/>
                </a:solidFill>
              </a:rPr>
              <a:t>Start confirmed</a:t>
            </a:r>
          </a:p>
        </p:txBody>
      </p:sp>
      <p:cxnSp>
        <p:nvCxnSpPr>
          <p:cNvPr id="5" name="Connector 4"/>
          <p:cNvCxnSpPr>
            <a:stCxn id="3" idx="2"/>
            <a:endCxn id="4" idx="0"/>
          </p:cNvCxnSpPr>
          <p:nvPr/>
        </p:nvCxnSpPr>
        <p:spPr>
          <a:xfrm flipH="1">
            <a:off x="1188720" y="1618488"/>
            <a:ext cx="4069080" cy="484632"/>
          </a:xfrm>
          <a:prstGeom prst="line">
            <a:avLst/>
          </a:prstGeom>
          <a:ln w="15875">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88720" y="2670048"/>
            <a:ext cx="0" cy="411480"/>
          </a:xfrm>
          <a:prstGeom prst="line">
            <a:avLst/>
          </a:prstGeom>
          <a:ln w="15875">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7" name="Node: Start unconfirmed"/>
          <p:cNvSpPr/>
          <p:nvPr/>
        </p:nvSpPr>
        <p:spPr>
          <a:xfrm>
            <a:off x="2093976" y="2103120"/>
            <a:ext cx="1463040" cy="566928"/>
          </a:xfrm>
          <a:prstGeom prst="roundRect">
            <a:avLst>
              <a:gd name="adj" fmla="val 18000"/>
            </a:avLst>
          </a:prstGeom>
          <a:solidFill>
            <a:srgbClr val="DEEBF7"/>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0">
                <a:solidFill>
                  <a:srgbClr val="262626"/>
                </a:solidFill>
              </a:rPr>
              <a:t>Start unconfirmed</a:t>
            </a:r>
          </a:p>
        </p:txBody>
      </p:sp>
      <p:cxnSp>
        <p:nvCxnSpPr>
          <p:cNvPr id="8" name="Connector 7"/>
          <p:cNvCxnSpPr>
            <a:stCxn id="3" idx="2"/>
            <a:endCxn id="7" idx="0"/>
          </p:cNvCxnSpPr>
          <p:nvPr/>
        </p:nvCxnSpPr>
        <p:spPr>
          <a:xfrm flipH="1">
            <a:off x="2825496" y="1618488"/>
            <a:ext cx="2432304" cy="484632"/>
          </a:xfrm>
          <a:prstGeom prst="line">
            <a:avLst/>
          </a:prstGeom>
          <a:ln w="15875">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825496" y="2670048"/>
            <a:ext cx="0" cy="411480"/>
          </a:xfrm>
          <a:prstGeom prst="line">
            <a:avLst/>
          </a:prstGeom>
          <a:ln w="15875">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10" name="Node: Ambiguous destination"/>
          <p:cNvSpPr/>
          <p:nvPr/>
        </p:nvSpPr>
        <p:spPr>
          <a:xfrm>
            <a:off x="3730752" y="2103120"/>
            <a:ext cx="1463040" cy="566928"/>
          </a:xfrm>
          <a:prstGeom prst="roundRect">
            <a:avLst>
              <a:gd name="adj" fmla="val 18000"/>
            </a:avLst>
          </a:prstGeom>
          <a:solidFill>
            <a:srgbClr val="DEEBF7"/>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0">
                <a:solidFill>
                  <a:srgbClr val="262626"/>
                </a:solidFill>
              </a:rPr>
              <a:t>Ambiguous destination</a:t>
            </a:r>
          </a:p>
        </p:txBody>
      </p:sp>
      <p:cxnSp>
        <p:nvCxnSpPr>
          <p:cNvPr id="11" name="Connector 10"/>
          <p:cNvCxnSpPr>
            <a:stCxn id="3" idx="2"/>
            <a:endCxn id="10" idx="0"/>
          </p:cNvCxnSpPr>
          <p:nvPr/>
        </p:nvCxnSpPr>
        <p:spPr>
          <a:xfrm flipH="1">
            <a:off x="4462272" y="1618488"/>
            <a:ext cx="795528" cy="484632"/>
          </a:xfrm>
          <a:prstGeom prst="line">
            <a:avLst/>
          </a:prstGeom>
          <a:ln w="15875">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462272" y="2670048"/>
            <a:ext cx="0" cy="411480"/>
          </a:xfrm>
          <a:prstGeom prst="line">
            <a:avLst/>
          </a:prstGeom>
          <a:ln w="15875">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13" name="Node: Missed turn"/>
          <p:cNvSpPr/>
          <p:nvPr/>
        </p:nvSpPr>
        <p:spPr>
          <a:xfrm>
            <a:off x="5367528" y="2103120"/>
            <a:ext cx="1463040" cy="566928"/>
          </a:xfrm>
          <a:prstGeom prst="roundRect">
            <a:avLst>
              <a:gd name="adj" fmla="val 18000"/>
            </a:avLst>
          </a:prstGeom>
          <a:solidFill>
            <a:srgbClr val="4472C4"/>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1">
                <a:solidFill>
                  <a:srgbClr val="FFFFFF"/>
                </a:solidFill>
              </a:rPr>
              <a:t>Missed turn</a:t>
            </a:r>
          </a:p>
        </p:txBody>
      </p:sp>
      <p:cxnSp>
        <p:nvCxnSpPr>
          <p:cNvPr id="14" name="Connector 13"/>
          <p:cNvCxnSpPr>
            <a:stCxn id="3" idx="2"/>
            <a:endCxn id="13" idx="0"/>
          </p:cNvCxnSpPr>
          <p:nvPr/>
        </p:nvCxnSpPr>
        <p:spPr>
          <a:xfrm>
            <a:off x="5257800" y="1618488"/>
            <a:ext cx="841248" cy="484632"/>
          </a:xfrm>
          <a:prstGeom prst="line">
            <a:avLst/>
          </a:prstGeom>
          <a:ln w="15875">
            <a:solidFill>
              <a:srgbClr val="595959"/>
            </a:solidFill>
          </a:ln>
        </p:spPr>
        <p:style>
          <a:lnRef idx="2">
            <a:schemeClr val="accent1"/>
          </a:lnRef>
          <a:fillRef idx="0">
            <a:schemeClr val="accent1"/>
          </a:fillRef>
          <a:effectRef idx="1">
            <a:schemeClr val="accent1"/>
          </a:effectRef>
          <a:fontRef idx="minor">
            <a:schemeClr val="tx1"/>
          </a:fontRef>
        </p:style>
      </p:cxnSp>
      <p:sp>
        <p:nvSpPr>
          <p:cNvPr id="15" name="Node: Route blocked"/>
          <p:cNvSpPr/>
          <p:nvPr/>
        </p:nvSpPr>
        <p:spPr>
          <a:xfrm>
            <a:off x="7004304" y="2103120"/>
            <a:ext cx="1463040" cy="566928"/>
          </a:xfrm>
          <a:prstGeom prst="roundRect">
            <a:avLst>
              <a:gd name="adj" fmla="val 18000"/>
            </a:avLst>
          </a:prstGeom>
          <a:solidFill>
            <a:srgbClr val="DEEBF7"/>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0">
                <a:solidFill>
                  <a:srgbClr val="262626"/>
                </a:solidFill>
              </a:rPr>
              <a:t>Route blocked</a:t>
            </a:r>
          </a:p>
        </p:txBody>
      </p:sp>
      <p:cxnSp>
        <p:nvCxnSpPr>
          <p:cNvPr id="16" name="Connector 15"/>
          <p:cNvCxnSpPr>
            <a:stCxn id="3" idx="2"/>
            <a:endCxn id="15" idx="0"/>
          </p:cNvCxnSpPr>
          <p:nvPr/>
        </p:nvCxnSpPr>
        <p:spPr>
          <a:xfrm>
            <a:off x="5257800" y="1618488"/>
            <a:ext cx="2478024" cy="484632"/>
          </a:xfrm>
          <a:prstGeom prst="line">
            <a:avLst/>
          </a:prstGeom>
          <a:ln w="15875">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735824" y="2670048"/>
            <a:ext cx="0" cy="411480"/>
          </a:xfrm>
          <a:prstGeom prst="line">
            <a:avLst/>
          </a:prstGeom>
          <a:ln w="15875">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18" name="Node: Unmapped building"/>
          <p:cNvSpPr/>
          <p:nvPr/>
        </p:nvSpPr>
        <p:spPr>
          <a:xfrm>
            <a:off x="8641080" y="2103120"/>
            <a:ext cx="1463040" cy="566928"/>
          </a:xfrm>
          <a:prstGeom prst="roundRect">
            <a:avLst>
              <a:gd name="adj" fmla="val 18000"/>
            </a:avLst>
          </a:prstGeom>
          <a:solidFill>
            <a:srgbClr val="DEEBF7"/>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0">
                <a:solidFill>
                  <a:srgbClr val="262626"/>
                </a:solidFill>
              </a:rPr>
              <a:t>Unmapped building</a:t>
            </a:r>
          </a:p>
        </p:txBody>
      </p:sp>
      <p:cxnSp>
        <p:nvCxnSpPr>
          <p:cNvPr id="19" name="Connector 18"/>
          <p:cNvCxnSpPr>
            <a:stCxn id="3" idx="2"/>
            <a:endCxn id="18" idx="0"/>
          </p:cNvCxnSpPr>
          <p:nvPr/>
        </p:nvCxnSpPr>
        <p:spPr>
          <a:xfrm>
            <a:off x="5257800" y="1618488"/>
            <a:ext cx="4114800" cy="484632"/>
          </a:xfrm>
          <a:prstGeom prst="line">
            <a:avLst/>
          </a:prstGeom>
          <a:ln w="15875">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372600" y="2670048"/>
            <a:ext cx="0" cy="411480"/>
          </a:xfrm>
          <a:prstGeom prst="line">
            <a:avLst/>
          </a:prstGeom>
          <a:ln w="15875">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21" name="Node: Caught at landmark confirmation"/>
          <p:cNvSpPr/>
          <p:nvPr/>
        </p:nvSpPr>
        <p:spPr>
          <a:xfrm>
            <a:off x="3429000" y="3200400"/>
            <a:ext cx="2286000" cy="566928"/>
          </a:xfrm>
          <a:prstGeom prst="roundRect">
            <a:avLst>
              <a:gd name="adj" fmla="val 18000"/>
            </a:avLst>
          </a:prstGeom>
          <a:solidFill>
            <a:srgbClr val="4472C4"/>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1">
                <a:solidFill>
                  <a:srgbClr val="FFFFFF"/>
                </a:solidFill>
              </a:rPr>
              <a:t>Caught at landmark confirmation</a:t>
            </a:r>
          </a:p>
        </p:txBody>
      </p:sp>
      <p:sp>
        <p:nvSpPr>
          <p:cNvPr id="22" name="Node: Not caught until arrival fails"/>
          <p:cNvSpPr/>
          <p:nvPr/>
        </p:nvSpPr>
        <p:spPr>
          <a:xfrm>
            <a:off x="6446520" y="3200400"/>
            <a:ext cx="2286000" cy="566928"/>
          </a:xfrm>
          <a:prstGeom prst="roundRect">
            <a:avLst>
              <a:gd name="adj" fmla="val 18000"/>
            </a:avLst>
          </a:prstGeom>
          <a:solidFill>
            <a:srgbClr val="DEEBF7"/>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0">
                <a:solidFill>
                  <a:srgbClr val="262626"/>
                </a:solidFill>
              </a:rPr>
              <a:t>Not caught until arrival fails</a:t>
            </a:r>
          </a:p>
        </p:txBody>
      </p:sp>
      <p:cxnSp>
        <p:nvCxnSpPr>
          <p:cNvPr id="23" name="Connector 22"/>
          <p:cNvCxnSpPr>
            <a:stCxn id="13" idx="2"/>
            <a:endCxn id="21" idx="0"/>
          </p:cNvCxnSpPr>
          <p:nvPr/>
        </p:nvCxnSpPr>
        <p:spPr>
          <a:xfrm flipH="1">
            <a:off x="4572000" y="2670048"/>
            <a:ext cx="1527048" cy="530352"/>
          </a:xfrm>
          <a:prstGeom prst="line">
            <a:avLst/>
          </a:prstGeom>
          <a:ln w="15875">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a:stCxn id="13" idx="2"/>
            <a:endCxn id="22" idx="0"/>
          </p:cNvCxnSpPr>
          <p:nvPr/>
        </p:nvCxnSpPr>
        <p:spPr>
          <a:xfrm>
            <a:off x="6099048" y="2670048"/>
            <a:ext cx="1490472" cy="530352"/>
          </a:xfrm>
          <a:prstGeom prst="line">
            <a:avLst/>
          </a:prstGeom>
          <a:ln w="15875">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589520" y="3767328"/>
            <a:ext cx="0" cy="411480"/>
          </a:xfrm>
          <a:prstGeom prst="line">
            <a:avLst/>
          </a:prstGeom>
          <a:ln w="15875">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26" name="Node: THEIA reroutes"/>
          <p:cNvSpPr/>
          <p:nvPr/>
        </p:nvSpPr>
        <p:spPr>
          <a:xfrm>
            <a:off x="2423160" y="4297680"/>
            <a:ext cx="2011680" cy="566928"/>
          </a:xfrm>
          <a:prstGeom prst="roundRect">
            <a:avLst>
              <a:gd name="adj" fmla="val 18000"/>
            </a:avLst>
          </a:prstGeom>
          <a:solidFill>
            <a:srgbClr val="4472C4"/>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1">
                <a:solidFill>
                  <a:srgbClr val="FFFFFF"/>
                </a:solidFill>
              </a:rPr>
              <a:t>THEIA reroutes</a:t>
            </a:r>
          </a:p>
        </p:txBody>
      </p:sp>
      <p:sp>
        <p:nvSpPr>
          <p:cNvPr id="27" name="Node: Stevie requests help"/>
          <p:cNvSpPr/>
          <p:nvPr/>
        </p:nvSpPr>
        <p:spPr>
          <a:xfrm>
            <a:off x="4800600" y="4297680"/>
            <a:ext cx="2011680" cy="566928"/>
          </a:xfrm>
          <a:prstGeom prst="roundRect">
            <a:avLst>
              <a:gd name="adj" fmla="val 18000"/>
            </a:avLst>
          </a:prstGeom>
          <a:solidFill>
            <a:srgbClr val="DEEBF7"/>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0">
                <a:solidFill>
                  <a:srgbClr val="262626"/>
                </a:solidFill>
              </a:rPr>
              <a:t>Stevie requests help</a:t>
            </a:r>
          </a:p>
        </p:txBody>
      </p:sp>
      <p:cxnSp>
        <p:nvCxnSpPr>
          <p:cNvPr id="28" name="Connector 27"/>
          <p:cNvCxnSpPr>
            <a:stCxn id="21" idx="2"/>
            <a:endCxn id="26" idx="0"/>
          </p:cNvCxnSpPr>
          <p:nvPr/>
        </p:nvCxnSpPr>
        <p:spPr>
          <a:xfrm flipH="1">
            <a:off x="3429000" y="3767328"/>
            <a:ext cx="1143000" cy="530352"/>
          </a:xfrm>
          <a:prstGeom prst="line">
            <a:avLst/>
          </a:prstGeom>
          <a:ln w="15875">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a:stCxn id="21" idx="2"/>
            <a:endCxn id="27" idx="0"/>
          </p:cNvCxnSpPr>
          <p:nvPr/>
        </p:nvCxnSpPr>
        <p:spPr>
          <a:xfrm>
            <a:off x="4572000" y="3767328"/>
            <a:ext cx="1234440" cy="530352"/>
          </a:xfrm>
          <a:prstGeom prst="line">
            <a:avLst/>
          </a:prstGeom>
          <a:ln w="15875">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806440" y="4864608"/>
            <a:ext cx="0" cy="411480"/>
          </a:xfrm>
          <a:prstGeom prst="line">
            <a:avLst/>
          </a:prstGeom>
          <a:ln w="15875">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31" name="Node: Stevie confirms new location by voice"/>
          <p:cNvSpPr/>
          <p:nvPr/>
        </p:nvSpPr>
        <p:spPr>
          <a:xfrm>
            <a:off x="800100" y="5394960"/>
            <a:ext cx="2514600" cy="566928"/>
          </a:xfrm>
          <a:prstGeom prst="roundRect">
            <a:avLst>
              <a:gd name="adj" fmla="val 18000"/>
            </a:avLst>
          </a:prstGeom>
          <a:solidFill>
            <a:srgbClr val="DEEBF7"/>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0">
                <a:solidFill>
                  <a:srgbClr val="262626"/>
                </a:solidFill>
              </a:rPr>
              <a:t>Stevie confirms new location by voice</a:t>
            </a:r>
          </a:p>
        </p:txBody>
      </p:sp>
      <p:sp>
        <p:nvSpPr>
          <p:cNvPr id="32" name="Node: Stevie picks location from nearby mapped list"/>
          <p:cNvSpPr/>
          <p:nvPr/>
        </p:nvSpPr>
        <p:spPr>
          <a:xfrm>
            <a:off x="3543300" y="5394960"/>
            <a:ext cx="2514600" cy="566928"/>
          </a:xfrm>
          <a:prstGeom prst="roundRect">
            <a:avLst>
              <a:gd name="adj" fmla="val 18000"/>
            </a:avLst>
          </a:prstGeom>
          <a:solidFill>
            <a:srgbClr val="DEEBF7"/>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0">
                <a:solidFill>
                  <a:srgbClr val="262626"/>
                </a:solidFill>
              </a:rPr>
              <a:t>Stevie picks location from nearby mapped list</a:t>
            </a:r>
          </a:p>
        </p:txBody>
      </p:sp>
      <p:cxnSp>
        <p:nvCxnSpPr>
          <p:cNvPr id="33" name="Connector 32"/>
          <p:cNvCxnSpPr>
            <a:stCxn id="26" idx="2"/>
            <a:endCxn id="31" idx="0"/>
          </p:cNvCxnSpPr>
          <p:nvPr/>
        </p:nvCxnSpPr>
        <p:spPr>
          <a:xfrm flipH="1">
            <a:off x="2057400" y="4864608"/>
            <a:ext cx="1371600" cy="530352"/>
          </a:xfrm>
          <a:prstGeom prst="line">
            <a:avLst/>
          </a:prstGeom>
          <a:ln w="15875">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a:stCxn id="26" idx="2"/>
            <a:endCxn id="32" idx="0"/>
          </p:cNvCxnSpPr>
          <p:nvPr/>
        </p:nvCxnSpPr>
        <p:spPr>
          <a:xfrm>
            <a:off x="3429000" y="4864608"/>
            <a:ext cx="1371600" cy="530352"/>
          </a:xfrm>
          <a:prstGeom prst="line">
            <a:avLst/>
          </a:prstGeom>
          <a:ln w="15875">
            <a:solidFill>
              <a:srgbClr val="595959"/>
            </a:solidFill>
          </a:ln>
        </p:spPr>
        <p:style>
          <a:lnRef idx="2">
            <a:schemeClr val="accent1"/>
          </a:lnRef>
          <a:fillRef idx="0">
            <a:schemeClr val="accent1"/>
          </a:fillRef>
          <a:effectRef idx="1">
            <a:schemeClr val="accent1"/>
          </a:effectRef>
          <a:fontRef idx="minor">
            <a:schemeClr val="tx1"/>
          </a:fontRef>
        </p:style>
      </p:cxnSp>
      <p:sp>
        <p:nvSpPr>
          <p:cNvPr id="35" name="Level &quot;What-if&quot;"/>
          <p:cNvSpPr txBox="1"/>
          <p:nvPr/>
        </p:nvSpPr>
        <p:spPr>
          <a:xfrm>
            <a:off x="10332720" y="2176272"/>
            <a:ext cx="1463040" cy="411480"/>
          </a:xfrm>
          <a:prstGeom prst="rect">
            <a:avLst/>
          </a:prstGeom>
          <a:noFill/>
        </p:spPr>
        <p:txBody>
          <a:bodyPr wrap="square" anchor="t">
            <a:spAutoFit/>
          </a:bodyPr>
          <a:lstStyle/>
          <a:p>
            <a:pPr algn="r">
              <a:spcAft>
                <a:spcPts val="600"/>
              </a:spcAft>
            </a:pPr>
            <a:r>
              <a:rPr sz="1700" b="1" i="1">
                <a:solidFill>
                  <a:srgbClr val="2F5597"/>
                </a:solidFill>
              </a:rPr>
              <a:t>"What-if"</a:t>
            </a:r>
          </a:p>
        </p:txBody>
      </p:sp>
      <p:sp>
        <p:nvSpPr>
          <p:cNvPr id="36" name="Level &quot;When&quot;"/>
          <p:cNvSpPr txBox="1"/>
          <p:nvPr/>
        </p:nvSpPr>
        <p:spPr>
          <a:xfrm>
            <a:off x="10332720" y="3273552"/>
            <a:ext cx="1463040" cy="411480"/>
          </a:xfrm>
          <a:prstGeom prst="rect">
            <a:avLst/>
          </a:prstGeom>
          <a:noFill/>
        </p:spPr>
        <p:txBody>
          <a:bodyPr wrap="square" anchor="t">
            <a:spAutoFit/>
          </a:bodyPr>
          <a:lstStyle/>
          <a:p>
            <a:pPr algn="r">
              <a:spcAft>
                <a:spcPts val="600"/>
              </a:spcAft>
            </a:pPr>
            <a:r>
              <a:rPr sz="1700" b="1" i="1">
                <a:solidFill>
                  <a:srgbClr val="2F5597"/>
                </a:solidFill>
              </a:rPr>
              <a:t>"When"</a:t>
            </a:r>
          </a:p>
        </p:txBody>
      </p:sp>
      <p:sp>
        <p:nvSpPr>
          <p:cNvPr id="37" name="Level &quot;Who&quot;"/>
          <p:cNvSpPr txBox="1"/>
          <p:nvPr/>
        </p:nvSpPr>
        <p:spPr>
          <a:xfrm>
            <a:off x="10332720" y="4370832"/>
            <a:ext cx="1463040" cy="411480"/>
          </a:xfrm>
          <a:prstGeom prst="rect">
            <a:avLst/>
          </a:prstGeom>
          <a:noFill/>
        </p:spPr>
        <p:txBody>
          <a:bodyPr wrap="square" anchor="t">
            <a:spAutoFit/>
          </a:bodyPr>
          <a:lstStyle/>
          <a:p>
            <a:pPr algn="r">
              <a:spcAft>
                <a:spcPts val="600"/>
              </a:spcAft>
            </a:pPr>
            <a:r>
              <a:rPr sz="1700" b="1" i="1">
                <a:solidFill>
                  <a:srgbClr val="2F5597"/>
                </a:solidFill>
              </a:rPr>
              <a:t>"Who"</a:t>
            </a:r>
          </a:p>
        </p:txBody>
      </p:sp>
      <p:sp>
        <p:nvSpPr>
          <p:cNvPr id="38" name="Level &quot;How-to&quot;"/>
          <p:cNvSpPr txBox="1"/>
          <p:nvPr/>
        </p:nvSpPr>
        <p:spPr>
          <a:xfrm>
            <a:off x="10332720" y="5468112"/>
            <a:ext cx="1463040" cy="411480"/>
          </a:xfrm>
          <a:prstGeom prst="rect">
            <a:avLst/>
          </a:prstGeom>
          <a:noFill/>
        </p:spPr>
        <p:txBody>
          <a:bodyPr wrap="square" anchor="t">
            <a:spAutoFit/>
          </a:bodyPr>
          <a:lstStyle/>
          <a:p>
            <a:pPr algn="r">
              <a:spcAft>
                <a:spcPts val="600"/>
              </a:spcAft>
            </a:pPr>
            <a:r>
              <a:rPr sz="1700" b="1" i="1">
                <a:solidFill>
                  <a:srgbClr val="2F5597"/>
                </a:solidFill>
              </a:rPr>
              <a:t>"How-to"</a:t>
            </a:r>
          </a:p>
        </p:txBody>
      </p:sp>
      <p:sp>
        <p:nvSpPr>
          <p:cNvPr id="39" name="TextBox 38"/>
          <p:cNvSpPr txBox="1"/>
          <p:nvPr/>
        </p:nvSpPr>
        <p:spPr>
          <a:xfrm>
            <a:off x="7315200" y="5440680"/>
            <a:ext cx="3017520" cy="548640"/>
          </a:xfrm>
          <a:prstGeom prst="rect">
            <a:avLst/>
          </a:prstGeom>
          <a:noFill/>
        </p:spPr>
        <p:txBody>
          <a:bodyPr wrap="square" anchor="t">
            <a:spAutoFit/>
          </a:bodyPr>
          <a:lstStyle/>
          <a:p>
            <a:pPr algn="l">
              <a:spcAft>
                <a:spcPts val="600"/>
              </a:spcAft>
            </a:pPr>
            <a:r>
              <a:rPr sz="1200" b="0" i="1">
                <a:solidFill>
                  <a:srgbClr val="595959"/>
                </a:solidFill>
              </a:rPr>
              <a:t>Dashed lines: branches not expanded on this slide</a:t>
            </a:r>
          </a:p>
        </p:txBody>
      </p:sp>
      <p:pic>
        <p:nvPicPr>
          <p:cNvPr id="63" name="Audio 62">
            <a:hlinkClick r:id="" action="ppaction://media"/>
            <a:extLst>
              <a:ext uri="{FF2B5EF4-FFF2-40B4-BE49-F238E27FC236}">
                <a16:creationId xmlns:a16="http://schemas.microsoft.com/office/drawing/2014/main" id="{CBFB4D90-5DAD-1624-3569-65B820951DE5}"/>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87500" t="-287500" r="-287500" b="-287500"/>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47872"/>
    </mc:Choice>
    <mc:Fallback>
      <p:transition spd="slow" advTm="4787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3"/>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30352" y="292608"/>
            <a:ext cx="11155680" cy="548640"/>
          </a:xfrm>
          <a:prstGeom prst="rect">
            <a:avLst/>
          </a:prstGeom>
          <a:noFill/>
        </p:spPr>
        <p:txBody>
          <a:bodyPr wrap="square" anchor="t">
            <a:spAutoFit/>
          </a:bodyPr>
          <a:lstStyle/>
          <a:p>
            <a:pPr algn="l">
              <a:spcAft>
                <a:spcPts val="600"/>
              </a:spcAft>
            </a:pPr>
            <a:r>
              <a:rPr sz="2800" b="1" i="0">
                <a:solidFill>
                  <a:srgbClr val="262626"/>
                </a:solidFill>
              </a:rPr>
              <a:t>Pruning: Selected, Discarded, and Undecided Options</a:t>
            </a:r>
          </a:p>
        </p:txBody>
      </p:sp>
      <p:sp>
        <p:nvSpPr>
          <p:cNvPr id="3" name="Selected card"/>
          <p:cNvSpPr/>
          <p:nvPr/>
        </p:nvSpPr>
        <p:spPr>
          <a:xfrm>
            <a:off x="530352" y="1097280"/>
            <a:ext cx="3566160" cy="416052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elected header"/>
          <p:cNvSpPr/>
          <p:nvPr/>
        </p:nvSpPr>
        <p:spPr>
          <a:xfrm>
            <a:off x="530352" y="1097280"/>
            <a:ext cx="3566160" cy="502920"/>
          </a:xfrm>
          <a:prstGeom prst="rect">
            <a:avLst/>
          </a:prstGeom>
          <a:solidFill>
            <a:srgbClr val="3876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Selected</a:t>
            </a:r>
          </a:p>
        </p:txBody>
      </p:sp>
      <p:sp>
        <p:nvSpPr>
          <p:cNvPr id="5" name="TextBox 4"/>
          <p:cNvSpPr txBox="1"/>
          <p:nvPr/>
        </p:nvSpPr>
        <p:spPr>
          <a:xfrm>
            <a:off x="640080" y="1737360"/>
            <a:ext cx="3346704" cy="3474720"/>
          </a:xfrm>
          <a:prstGeom prst="rect">
            <a:avLst/>
          </a:prstGeom>
          <a:noFill/>
        </p:spPr>
        <p:txBody>
          <a:bodyPr wrap="square" anchor="t">
            <a:spAutoFit/>
          </a:bodyPr>
          <a:lstStyle/>
          <a:p>
            <a:pPr marL="285750" indent="-285750" algn="l">
              <a:spcAft>
                <a:spcPts val="600"/>
              </a:spcAft>
              <a:buFont typeface="Arial"/>
              <a:buChar char="•"/>
            </a:pPr>
            <a:r>
              <a:rPr sz="1500" b="0" i="0">
                <a:solidFill>
                  <a:srgbClr val="262626"/>
                </a:solidFill>
              </a:rPr>
              <a:t>Landmark confirmation at each decision point (FR09)</a:t>
            </a:r>
          </a:p>
          <a:p>
            <a:pPr marL="285750" indent="-285750" algn="l">
              <a:spcAft>
                <a:spcPts val="600"/>
              </a:spcAft>
              <a:buFont typeface="Arial"/>
              <a:buChar char="•"/>
            </a:pPr>
            <a:r>
              <a:rPr sz="1500" b="0" i="0">
                <a:solidFill>
                  <a:srgbClr val="262626"/>
                </a:solidFill>
              </a:rPr>
              <a:t>Withhold guidance when the start or a landmark is unconfirmed (FR05, NFR04)</a:t>
            </a:r>
          </a:p>
          <a:p>
            <a:pPr marL="285750" indent="-285750" algn="l">
              <a:spcAft>
                <a:spcPts val="600"/>
              </a:spcAft>
              <a:buFont typeface="Arial"/>
              <a:buChar char="•"/>
            </a:pPr>
            <a:r>
              <a:rPr sz="1500" b="0" i="0">
                <a:solidFill>
                  <a:srgbClr val="262626"/>
                </a:solidFill>
              </a:rPr>
              <a:t>Read alternatives for an ambiguous destination (FR04)</a:t>
            </a:r>
          </a:p>
          <a:p>
            <a:pPr marL="285750" indent="-285750" algn="l">
              <a:spcAft>
                <a:spcPts val="600"/>
              </a:spcAft>
              <a:buFont typeface="Arial"/>
              <a:buChar char="•"/>
            </a:pPr>
            <a:r>
              <a:rPr sz="1500" b="0" i="0">
                <a:solidFill>
                  <a:srgbClr val="262626"/>
                </a:solidFill>
              </a:rPr>
              <a:t>Maps from a verified provider only (FR02)</a:t>
            </a:r>
          </a:p>
          <a:p>
            <a:pPr marL="285750" indent="-285750" algn="l">
              <a:spcAft>
                <a:spcPts val="600"/>
              </a:spcAft>
              <a:buFont typeface="Arial"/>
              <a:buChar char="•"/>
            </a:pPr>
            <a:r>
              <a:rPr sz="1500" b="0" i="0">
                <a:solidFill>
                  <a:srgbClr val="262626"/>
                </a:solidFill>
              </a:rPr>
              <a:t>Stevie chooses among accessible routes (FR06, FR07)</a:t>
            </a:r>
          </a:p>
          <a:p>
            <a:pPr marL="285750" indent="-285750" algn="l">
              <a:spcAft>
                <a:spcPts val="600"/>
              </a:spcAft>
              <a:buFont typeface="Arial"/>
              <a:buChar char="•"/>
            </a:pPr>
            <a:r>
              <a:rPr sz="1500" b="0" i="0">
                <a:solidFill>
                  <a:srgbClr val="262626"/>
                </a:solidFill>
              </a:rPr>
              <a:t>Reroute from a newly confirmed location (FR10)</a:t>
            </a:r>
          </a:p>
        </p:txBody>
      </p:sp>
      <p:sp>
        <p:nvSpPr>
          <p:cNvPr id="6" name="Discarded card"/>
          <p:cNvSpPr/>
          <p:nvPr/>
        </p:nvSpPr>
        <p:spPr>
          <a:xfrm>
            <a:off x="4297680" y="1097280"/>
            <a:ext cx="3566160" cy="4160520"/>
          </a:xfrm>
          <a:prstGeom prst="roundRect">
            <a:avLst>
              <a:gd name="adj" fmla="val 8000"/>
            </a:avLst>
          </a:prstGeom>
          <a:solidFill>
            <a:srgbClr val="F8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Discarded header"/>
          <p:cNvSpPr/>
          <p:nvPr/>
        </p:nvSpPr>
        <p:spPr>
          <a:xfrm>
            <a:off x="4297680" y="1097280"/>
            <a:ext cx="3566160" cy="502920"/>
          </a:xfrm>
          <a:prstGeom prst="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Discarded</a:t>
            </a:r>
          </a:p>
        </p:txBody>
      </p:sp>
      <p:sp>
        <p:nvSpPr>
          <p:cNvPr id="8" name="TextBox 7"/>
          <p:cNvSpPr txBox="1"/>
          <p:nvPr/>
        </p:nvSpPr>
        <p:spPr>
          <a:xfrm>
            <a:off x="4407408" y="1737360"/>
            <a:ext cx="3346704" cy="3474720"/>
          </a:xfrm>
          <a:prstGeom prst="rect">
            <a:avLst/>
          </a:prstGeom>
          <a:noFill/>
        </p:spPr>
        <p:txBody>
          <a:bodyPr wrap="square" anchor="t">
            <a:spAutoFit/>
          </a:bodyPr>
          <a:lstStyle/>
          <a:p>
            <a:pPr marL="285750" indent="-285750" algn="l">
              <a:spcAft>
                <a:spcPts val="600"/>
              </a:spcAft>
              <a:buFont typeface="Arial"/>
              <a:buChar char="•"/>
            </a:pPr>
            <a:r>
              <a:rPr sz="1500" b="0" i="0">
                <a:solidFill>
                  <a:srgbClr val="262626"/>
                </a:solidFill>
              </a:rPr>
              <a:t>Automatic indoor positioning (ruled out in the WRS)</a:t>
            </a:r>
          </a:p>
          <a:p>
            <a:pPr marL="285750" indent="-285750" algn="l">
              <a:spcAft>
                <a:spcPts val="600"/>
              </a:spcAft>
              <a:buFont typeface="Arial"/>
              <a:buChar char="•"/>
            </a:pPr>
            <a:r>
              <a:rPr sz="1500" b="0" i="0">
                <a:solidFill>
                  <a:srgbClr val="262626"/>
                </a:solidFill>
              </a:rPr>
              <a:t>Telling him to sidestep an obstacle, since the phone can't check it's safe (FR14)</a:t>
            </a:r>
          </a:p>
          <a:p>
            <a:pPr marL="285750" indent="-285750" algn="l">
              <a:spcAft>
                <a:spcPts val="600"/>
              </a:spcAft>
              <a:buFont typeface="Arial"/>
              <a:buChar char="•"/>
            </a:pPr>
            <a:r>
              <a:rPr sz="1500" b="0" i="0">
                <a:solidFill>
                  <a:srgbClr val="262626"/>
                </a:solidFill>
              </a:rPr>
              <a:t>Maps drawn by caretakers (map changes need provider approval, FR02)</a:t>
            </a:r>
          </a:p>
          <a:p>
            <a:pPr marL="285750" indent="-285750" algn="l">
              <a:spcAft>
                <a:spcPts val="600"/>
              </a:spcAft>
              <a:buFont typeface="Arial"/>
              <a:buChar char="•"/>
            </a:pPr>
            <a:r>
              <a:rPr sz="1500" b="0" i="0">
                <a:solidFill>
                  <a:srgbClr val="262626"/>
                </a:solidFill>
              </a:rPr>
              <a:t>Guessing the start location and continuing</a:t>
            </a:r>
          </a:p>
        </p:txBody>
      </p:sp>
      <p:sp>
        <p:nvSpPr>
          <p:cNvPr id="9" name="Undecided card"/>
          <p:cNvSpPr/>
          <p:nvPr/>
        </p:nvSpPr>
        <p:spPr>
          <a:xfrm>
            <a:off x="8065008" y="1097280"/>
            <a:ext cx="3566160" cy="4160520"/>
          </a:xfrm>
          <a:prstGeom prst="roundRect">
            <a:avLst>
              <a:gd name="adj" fmla="val 8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Undecided header"/>
          <p:cNvSpPr/>
          <p:nvPr/>
        </p:nvSpPr>
        <p:spPr>
          <a:xfrm>
            <a:off x="8065008" y="1097280"/>
            <a:ext cx="3566160" cy="502920"/>
          </a:xfrm>
          <a:prstGeom prst="rect">
            <a:avLst/>
          </a:prstGeom>
          <a:solidFill>
            <a:srgbClr val="A3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Undecided</a:t>
            </a:r>
          </a:p>
        </p:txBody>
      </p:sp>
      <p:sp>
        <p:nvSpPr>
          <p:cNvPr id="11" name="TextBox 10"/>
          <p:cNvSpPr txBox="1"/>
          <p:nvPr/>
        </p:nvSpPr>
        <p:spPr>
          <a:xfrm>
            <a:off x="8174736" y="1737360"/>
            <a:ext cx="3346704" cy="3474720"/>
          </a:xfrm>
          <a:prstGeom prst="rect">
            <a:avLst/>
          </a:prstGeom>
          <a:noFill/>
        </p:spPr>
        <p:txBody>
          <a:bodyPr wrap="square" anchor="t">
            <a:spAutoFit/>
          </a:bodyPr>
          <a:lstStyle/>
          <a:p>
            <a:pPr marL="285750" indent="-285750" algn="l">
              <a:spcAft>
                <a:spcPts val="600"/>
              </a:spcAft>
              <a:buFont typeface="Arial"/>
              <a:buChar char="•"/>
            </a:pPr>
            <a:r>
              <a:rPr sz="1500" b="0" i="0">
                <a:solidFill>
                  <a:srgbClr val="262626"/>
                </a:solidFill>
              </a:rPr>
              <a:t>Step counts vs. distance vs. landmark-based cues</a:t>
            </a:r>
          </a:p>
          <a:p>
            <a:pPr marL="285750" indent="-285750" algn="l">
              <a:spcAft>
                <a:spcPts val="600"/>
              </a:spcAft>
              <a:buFont typeface="Arial"/>
              <a:buChar char="•"/>
            </a:pPr>
            <a:r>
              <a:rPr sz="1500" b="0" i="0">
                <a:solidFill>
                  <a:srgbClr val="262626"/>
                </a:solidFill>
              </a:rPr>
              <a:t>For now, step counts are kept but always labeled as estimates (FR08)</a:t>
            </a:r>
          </a:p>
        </p:txBody>
      </p:sp>
      <p:sp>
        <p:nvSpPr>
          <p:cNvPr id="12" name="TextBox 11"/>
          <p:cNvSpPr txBox="1"/>
          <p:nvPr/>
        </p:nvSpPr>
        <p:spPr>
          <a:xfrm>
            <a:off x="530352" y="5486400"/>
            <a:ext cx="11128248" cy="822960"/>
          </a:xfrm>
          <a:prstGeom prst="rect">
            <a:avLst/>
          </a:prstGeom>
          <a:noFill/>
        </p:spPr>
        <p:txBody>
          <a:bodyPr wrap="square" anchor="t">
            <a:spAutoFit/>
          </a:bodyPr>
          <a:lstStyle/>
          <a:p>
            <a:pPr algn="l">
              <a:spcAft>
                <a:spcPts val="600"/>
              </a:spcAft>
            </a:pPr>
            <a:r>
              <a:rPr sz="1700" b="1" i="0">
                <a:solidFill>
                  <a:srgbClr val="262626"/>
                </a:solidFill>
              </a:rPr>
              <a:t>Result: </a:t>
            </a:r>
            <a:r>
              <a:rPr sz="1700" b="0" i="0">
                <a:solidFill>
                  <a:srgbClr val="262626"/>
                </a:solidFill>
              </a:rPr>
              <a:t>guidance now waits for Stevie to confirm his start and each landmark. This analysis produced or confirmed FR04, FR05, FR08, FR09 and FR10.</a:t>
            </a:r>
          </a:p>
        </p:txBody>
      </p:sp>
      <p:pic>
        <p:nvPicPr>
          <p:cNvPr id="16" name="Audio 15">
            <a:hlinkClick r:id="" action="ppaction://media"/>
            <a:extLst>
              <a:ext uri="{FF2B5EF4-FFF2-40B4-BE49-F238E27FC236}">
                <a16:creationId xmlns:a16="http://schemas.microsoft.com/office/drawing/2014/main" id="{2C304A37-AFBB-172C-5CA1-21E02A26545E}"/>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87500" t="-287500" r="-287500" b="-287500"/>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49410"/>
    </mc:Choice>
    <mc:Fallback>
      <p:transition spd="slow" advTm="494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6"/>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30352" y="292608"/>
            <a:ext cx="11155680" cy="548640"/>
          </a:xfrm>
          <a:prstGeom prst="rect">
            <a:avLst/>
          </a:prstGeom>
          <a:noFill/>
        </p:spPr>
        <p:txBody>
          <a:bodyPr wrap="square" anchor="t">
            <a:spAutoFit/>
          </a:bodyPr>
          <a:lstStyle/>
          <a:p>
            <a:pPr algn="l">
              <a:spcAft>
                <a:spcPts val="600"/>
              </a:spcAft>
            </a:pPr>
            <a:r>
              <a:rPr sz="2800" b="1" i="0">
                <a:solidFill>
                  <a:srgbClr val="262626"/>
                </a:solidFill>
              </a:rPr>
              <a:t>Why THEIA: Comparison with Existing Tools</a:t>
            </a:r>
          </a:p>
        </p:txBody>
      </p:sp>
      <p:graphicFrame>
        <p:nvGraphicFramePr>
          <p:cNvPr id="3" name="Table 2"/>
          <p:cNvGraphicFramePr>
            <a:graphicFrameLocks noGrp="1"/>
          </p:cNvGraphicFramePr>
          <p:nvPr/>
        </p:nvGraphicFramePr>
        <p:xfrm>
          <a:off x="530352" y="1005840"/>
          <a:ext cx="11128248" cy="4608576"/>
        </p:xfrm>
        <a:graphic>
          <a:graphicData uri="http://schemas.openxmlformats.org/drawingml/2006/table">
            <a:tbl>
              <a:tblPr firstRow="1">
                <a:tableStyleId>{5C22544A-7EE6-4342-B048-85BDC9FD1C3A}</a:tableStyleId>
              </a:tblPr>
              <a:tblGrid>
                <a:gridCol w="2441448">
                  <a:extLst>
                    <a:ext uri="{9D8B030D-6E8A-4147-A177-3AD203B41FA5}">
                      <a16:colId xmlns:a16="http://schemas.microsoft.com/office/drawing/2014/main" val="20000"/>
                    </a:ext>
                  </a:extLst>
                </a:gridCol>
                <a:gridCol w="1664208">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19072">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658368">
                <a:tc>
                  <a:txBody>
                    <a:bodyPr/>
                    <a:lstStyle/>
                    <a:p>
                      <a:endParaRPr/>
                    </a:p>
                  </a:txBody>
                  <a:tcPr marL="54864" marR="54864" marT="27432" marB="27432" anchor="ctr">
                    <a:solidFill>
                      <a:srgbClr val="4472C4"/>
                    </a:solidFill>
                  </a:tcPr>
                </a:tc>
                <a:tc>
                  <a:txBody>
                    <a:bodyPr/>
                    <a:lstStyle/>
                    <a:p>
                      <a:r>
                        <a:rPr sz="1300" b="1">
                          <a:solidFill>
                            <a:srgbClr val="FFFFFF"/>
                          </a:solidFill>
                        </a:rPr>
                        <a:t>White cane</a:t>
                      </a:r>
                    </a:p>
                  </a:txBody>
                  <a:tcPr marL="54864" marR="54864" marT="27432" marB="27432" anchor="ctr">
                    <a:solidFill>
                      <a:srgbClr val="4472C4"/>
                    </a:solidFill>
                  </a:tcPr>
                </a:tc>
                <a:tc>
                  <a:txBody>
                    <a:bodyPr/>
                    <a:lstStyle/>
                    <a:p>
                      <a:r>
                        <a:rPr sz="1300" b="1">
                          <a:solidFill>
                            <a:srgbClr val="FFFFFF"/>
                          </a:solidFill>
                        </a:rPr>
                        <a:t>Guide dog</a:t>
                      </a:r>
                    </a:p>
                  </a:txBody>
                  <a:tcPr marL="54864" marR="54864" marT="27432" marB="27432" anchor="ctr">
                    <a:solidFill>
                      <a:srgbClr val="4472C4"/>
                    </a:solidFill>
                  </a:tcPr>
                </a:tc>
                <a:tc>
                  <a:txBody>
                    <a:bodyPr/>
                    <a:lstStyle/>
                    <a:p>
                      <a:r>
                        <a:rPr sz="1300" b="1">
                          <a:solidFill>
                            <a:srgbClr val="FFFFFF"/>
                          </a:solidFill>
                        </a:rPr>
                        <a:t>Sighted helper</a:t>
                      </a:r>
                    </a:p>
                  </a:txBody>
                  <a:tcPr marL="54864" marR="54864" marT="27432" marB="27432" anchor="ctr">
                    <a:solidFill>
                      <a:srgbClr val="4472C4"/>
                    </a:solidFill>
                  </a:tcPr>
                </a:tc>
                <a:tc>
                  <a:txBody>
                    <a:bodyPr/>
                    <a:lstStyle/>
                    <a:p>
                      <a:r>
                        <a:rPr sz="1300" b="1">
                          <a:solidFill>
                            <a:srgbClr val="FFFFFF"/>
                          </a:solidFill>
                        </a:rPr>
                        <a:t>Outdoor map apps</a:t>
                      </a:r>
                    </a:p>
                  </a:txBody>
                  <a:tcPr marL="54864" marR="54864" marT="27432" marB="27432" anchor="ctr">
                    <a:solidFill>
                      <a:srgbClr val="4472C4"/>
                    </a:solidFill>
                  </a:tcPr>
                </a:tc>
                <a:tc>
                  <a:txBody>
                    <a:bodyPr/>
                    <a:lstStyle/>
                    <a:p>
                      <a:r>
                        <a:rPr sz="1300" b="1">
                          <a:solidFill>
                            <a:srgbClr val="FFFFFF"/>
                          </a:solidFill>
                        </a:rPr>
                        <a:t>THEIA</a:t>
                      </a:r>
                    </a:p>
                  </a:txBody>
                  <a:tcPr marL="54864" marR="54864" marT="27432" marB="27432" anchor="ctr">
                    <a:solidFill>
                      <a:srgbClr val="2F5597"/>
                    </a:solidFill>
                  </a:tcPr>
                </a:tc>
                <a:extLst>
                  <a:ext uri="{0D108BD9-81ED-4DB2-BD59-A6C34878D82A}">
                    <a16:rowId xmlns:a16="http://schemas.microsoft.com/office/drawing/2014/main" val="10000"/>
                  </a:ext>
                </a:extLst>
              </a:tr>
              <a:tr h="658368">
                <a:tc>
                  <a:txBody>
                    <a:bodyPr/>
                    <a:lstStyle/>
                    <a:p>
                      <a:r>
                        <a:rPr sz="1300" b="1" i="0">
                          <a:solidFill>
                            <a:srgbClr val="262626"/>
                          </a:solidFill>
                        </a:rPr>
                        <a:t>Knows indoor routes room by room</a:t>
                      </a:r>
                    </a:p>
                  </a:txBody>
                  <a:tcPr marL="54864" marR="54864" marT="27432" marB="27432" anchor="ctr">
                    <a:solidFill>
                      <a:srgbClr val="F2F2F2"/>
                    </a:solidFill>
                  </a:tcPr>
                </a:tc>
                <a:tc>
                  <a:txBody>
                    <a:bodyPr/>
                    <a:lstStyle/>
                    <a:p>
                      <a:r>
                        <a:rPr sz="1300" i="0">
                          <a:solidFill>
                            <a:srgbClr val="262626"/>
                          </a:solidFill>
                        </a:rPr>
                        <a:t>No</a:t>
                      </a:r>
                    </a:p>
                  </a:txBody>
                  <a:tcPr marL="54864" marR="54864" marT="27432" marB="27432" anchor="ctr">
                    <a:solidFill>
                      <a:srgbClr val="F8E0E0"/>
                    </a:solidFill>
                  </a:tcPr>
                </a:tc>
                <a:tc>
                  <a:txBody>
                    <a:bodyPr/>
                    <a:lstStyle/>
                    <a:p>
                      <a:r>
                        <a:rPr sz="1300" i="0">
                          <a:solidFill>
                            <a:srgbClr val="262626"/>
                          </a:solidFill>
                        </a:rPr>
                        <a:t>No; handler must know the route</a:t>
                      </a:r>
                    </a:p>
                  </a:txBody>
                  <a:tcPr marL="54864" marR="54864" marT="27432" marB="27432" anchor="ctr">
                    <a:solidFill>
                      <a:srgbClr val="F8E0E0"/>
                    </a:solidFill>
                  </a:tcPr>
                </a:tc>
                <a:tc>
                  <a:txBody>
                    <a:bodyPr/>
                    <a:lstStyle/>
                    <a:p>
                      <a:r>
                        <a:rPr sz="1300" i="0">
                          <a:solidFill>
                            <a:srgbClr val="262626"/>
                          </a:solidFill>
                        </a:rPr>
                        <a:t>Only if they know the building</a:t>
                      </a:r>
                    </a:p>
                  </a:txBody>
                  <a:tcPr marL="54864" marR="54864" marT="27432" marB="27432" anchor="ctr">
                    <a:solidFill>
                      <a:srgbClr val="FFF2CC"/>
                    </a:solidFill>
                  </a:tcPr>
                </a:tc>
                <a:tc>
                  <a:txBody>
                    <a:bodyPr/>
                    <a:lstStyle/>
                    <a:p>
                      <a:r>
                        <a:rPr sz="1300" i="0">
                          <a:solidFill>
                            <a:srgbClr val="262626"/>
                          </a:solidFill>
                        </a:rPr>
                        <a:t>Rarely; built for streets</a:t>
                      </a:r>
                    </a:p>
                  </a:txBody>
                  <a:tcPr marL="54864" marR="54864" marT="27432" marB="27432" anchor="ctr">
                    <a:solidFill>
                      <a:srgbClr val="FFF2CC"/>
                    </a:solidFill>
                  </a:tcPr>
                </a:tc>
                <a:tc>
                  <a:txBody>
                    <a:bodyPr/>
                    <a:lstStyle/>
                    <a:p>
                      <a:r>
                        <a:rPr sz="1300" b="1" i="0">
                          <a:solidFill>
                            <a:srgbClr val="262626"/>
                          </a:solidFill>
                        </a:rPr>
                        <a:t>Yes, in buildings with verified maps</a:t>
                      </a:r>
                    </a:p>
                  </a:txBody>
                  <a:tcPr marL="54864" marR="54864" marT="27432" marB="27432" anchor="ctr">
                    <a:solidFill>
                      <a:srgbClr val="E2F0D9"/>
                    </a:solidFill>
                  </a:tcPr>
                </a:tc>
                <a:extLst>
                  <a:ext uri="{0D108BD9-81ED-4DB2-BD59-A6C34878D82A}">
                    <a16:rowId xmlns:a16="http://schemas.microsoft.com/office/drawing/2014/main" val="10001"/>
                  </a:ext>
                </a:extLst>
              </a:tr>
              <a:tr h="658368">
                <a:tc>
                  <a:txBody>
                    <a:bodyPr/>
                    <a:lstStyle/>
                    <a:p>
                      <a:r>
                        <a:rPr sz="1300" b="1" i="0">
                          <a:solidFill>
                            <a:srgbClr val="262626"/>
                          </a:solidFill>
                        </a:rPr>
                        <a:t>Handles floors and connected buildings</a:t>
                      </a:r>
                    </a:p>
                  </a:txBody>
                  <a:tcPr marL="54864" marR="54864" marT="27432" marB="27432" anchor="ctr">
                    <a:solidFill>
                      <a:srgbClr val="F2F2F2"/>
                    </a:solidFill>
                  </a:tcPr>
                </a:tc>
                <a:tc>
                  <a:txBody>
                    <a:bodyPr/>
                    <a:lstStyle/>
                    <a:p>
                      <a:r>
                        <a:rPr sz="1300" i="0">
                          <a:solidFill>
                            <a:srgbClr val="262626"/>
                          </a:solidFill>
                        </a:rPr>
                        <a:t>No</a:t>
                      </a:r>
                    </a:p>
                  </a:txBody>
                  <a:tcPr marL="54864" marR="54864" marT="27432" marB="27432" anchor="ctr">
                    <a:solidFill>
                      <a:srgbClr val="F8E0E0"/>
                    </a:solidFill>
                  </a:tcPr>
                </a:tc>
                <a:tc>
                  <a:txBody>
                    <a:bodyPr/>
                    <a:lstStyle/>
                    <a:p>
                      <a:r>
                        <a:rPr sz="1300" i="0">
                          <a:solidFill>
                            <a:srgbClr val="262626"/>
                          </a:solidFill>
                        </a:rPr>
                        <a:t>No; handler directs</a:t>
                      </a:r>
                    </a:p>
                  </a:txBody>
                  <a:tcPr marL="54864" marR="54864" marT="27432" marB="27432" anchor="ctr">
                    <a:solidFill>
                      <a:srgbClr val="F8E0E0"/>
                    </a:solidFill>
                  </a:tcPr>
                </a:tc>
                <a:tc>
                  <a:txBody>
                    <a:bodyPr/>
                    <a:lstStyle/>
                    <a:p>
                      <a:r>
                        <a:rPr sz="1300" i="0">
                          <a:solidFill>
                            <a:srgbClr val="262626"/>
                          </a:solidFill>
                        </a:rPr>
                        <a:t>Only if they know the building</a:t>
                      </a:r>
                    </a:p>
                  </a:txBody>
                  <a:tcPr marL="54864" marR="54864" marT="27432" marB="27432" anchor="ctr">
                    <a:solidFill>
                      <a:srgbClr val="FFF2CC"/>
                    </a:solidFill>
                  </a:tcPr>
                </a:tc>
                <a:tc>
                  <a:txBody>
                    <a:bodyPr/>
                    <a:lstStyle/>
                    <a:p>
                      <a:r>
                        <a:rPr sz="1300" i="0">
                          <a:solidFill>
                            <a:srgbClr val="262626"/>
                          </a:solidFill>
                        </a:rPr>
                        <a:t>Rarely</a:t>
                      </a:r>
                    </a:p>
                  </a:txBody>
                  <a:tcPr marL="54864" marR="54864" marT="27432" marB="27432" anchor="ctr">
                    <a:solidFill>
                      <a:srgbClr val="FFF2CC"/>
                    </a:solidFill>
                  </a:tcPr>
                </a:tc>
                <a:tc>
                  <a:txBody>
                    <a:bodyPr/>
                    <a:lstStyle/>
                    <a:p>
                      <a:r>
                        <a:rPr sz="1300" b="1" i="0">
                          <a:solidFill>
                            <a:srgbClr val="262626"/>
                          </a:solidFill>
                        </a:rPr>
                        <a:t>Yes, with floor changes announced</a:t>
                      </a:r>
                    </a:p>
                  </a:txBody>
                  <a:tcPr marL="54864" marR="54864" marT="27432" marB="27432" anchor="ctr">
                    <a:solidFill>
                      <a:srgbClr val="E2F0D9"/>
                    </a:solidFill>
                  </a:tcPr>
                </a:tc>
                <a:extLst>
                  <a:ext uri="{0D108BD9-81ED-4DB2-BD59-A6C34878D82A}">
                    <a16:rowId xmlns:a16="http://schemas.microsoft.com/office/drawing/2014/main" val="10002"/>
                  </a:ext>
                </a:extLst>
              </a:tr>
              <a:tr h="658368">
                <a:tc>
                  <a:txBody>
                    <a:bodyPr/>
                    <a:lstStyle/>
                    <a:p>
                      <a:r>
                        <a:rPr sz="1300" b="1" i="0">
                          <a:solidFill>
                            <a:srgbClr val="262626"/>
                          </a:solidFill>
                        </a:rPr>
                        <a:t>Warns of obstacles ahead</a:t>
                      </a:r>
                    </a:p>
                  </a:txBody>
                  <a:tcPr marL="54864" marR="54864" marT="27432" marB="27432" anchor="ctr">
                    <a:solidFill>
                      <a:srgbClr val="F2F2F2"/>
                    </a:solidFill>
                  </a:tcPr>
                </a:tc>
                <a:tc>
                  <a:txBody>
                    <a:bodyPr/>
                    <a:lstStyle/>
                    <a:p>
                      <a:r>
                        <a:rPr sz="1300" i="0">
                          <a:solidFill>
                            <a:srgbClr val="262626"/>
                          </a:solidFill>
                        </a:rPr>
                        <a:t>Yes, within the cane's reach</a:t>
                      </a:r>
                    </a:p>
                  </a:txBody>
                  <a:tcPr marL="54864" marR="54864" marT="27432" marB="27432" anchor="ctr">
                    <a:solidFill>
                      <a:srgbClr val="E2F0D9"/>
                    </a:solidFill>
                  </a:tcPr>
                </a:tc>
                <a:tc>
                  <a:txBody>
                    <a:bodyPr/>
                    <a:lstStyle/>
                    <a:p>
                      <a:r>
                        <a:rPr sz="1300" i="0">
                          <a:solidFill>
                            <a:srgbClr val="262626"/>
                          </a:solidFill>
                        </a:rPr>
                        <a:t>Yes, guides around them</a:t>
                      </a:r>
                    </a:p>
                  </a:txBody>
                  <a:tcPr marL="54864" marR="54864" marT="27432" marB="27432" anchor="ctr">
                    <a:solidFill>
                      <a:srgbClr val="E2F0D9"/>
                    </a:solidFill>
                  </a:tcPr>
                </a:tc>
                <a:tc>
                  <a:txBody>
                    <a:bodyPr/>
                    <a:lstStyle/>
                    <a:p>
                      <a:r>
                        <a:rPr sz="1300" i="0">
                          <a:solidFill>
                            <a:srgbClr val="262626"/>
                          </a:solidFill>
                        </a:rPr>
                        <a:t>Yes, while walking with you</a:t>
                      </a:r>
                    </a:p>
                  </a:txBody>
                  <a:tcPr marL="54864" marR="54864" marT="27432" marB="27432" anchor="ctr">
                    <a:solidFill>
                      <a:srgbClr val="E2F0D9"/>
                    </a:solidFill>
                  </a:tcPr>
                </a:tc>
                <a:tc>
                  <a:txBody>
                    <a:bodyPr/>
                    <a:lstStyle/>
                    <a:p>
                      <a:r>
                        <a:rPr sz="1300" i="0">
                          <a:solidFill>
                            <a:srgbClr val="262626"/>
                          </a:solidFill>
                        </a:rPr>
                        <a:t>No</a:t>
                      </a:r>
                    </a:p>
                  </a:txBody>
                  <a:tcPr marL="54864" marR="54864" marT="27432" marB="27432" anchor="ctr">
                    <a:solidFill>
                      <a:srgbClr val="F8E0E0"/>
                    </a:solidFill>
                  </a:tcPr>
                </a:tc>
                <a:tc>
                  <a:txBody>
                    <a:bodyPr/>
                    <a:lstStyle/>
                    <a:p>
                      <a:r>
                        <a:rPr sz="1300" b="1" i="0">
                          <a:solidFill>
                            <a:srgbClr val="262626"/>
                          </a:solidFill>
                        </a:rPr>
                        <a:t>Some static obstacles, not all</a:t>
                      </a:r>
                    </a:p>
                  </a:txBody>
                  <a:tcPr marL="54864" marR="54864" marT="27432" marB="27432" anchor="ctr">
                    <a:solidFill>
                      <a:srgbClr val="FFF2CC"/>
                    </a:solidFill>
                  </a:tcPr>
                </a:tc>
                <a:extLst>
                  <a:ext uri="{0D108BD9-81ED-4DB2-BD59-A6C34878D82A}">
                    <a16:rowId xmlns:a16="http://schemas.microsoft.com/office/drawing/2014/main" val="10003"/>
                  </a:ext>
                </a:extLst>
              </a:tr>
              <a:tr h="658368">
                <a:tc>
                  <a:txBody>
                    <a:bodyPr/>
                    <a:lstStyle/>
                    <a:p>
                      <a:r>
                        <a:rPr sz="1300" b="1" i="0">
                          <a:solidFill>
                            <a:srgbClr val="262626"/>
                          </a:solidFill>
                        </a:rPr>
                        <a:t>Detects a fall and alerts someone</a:t>
                      </a:r>
                    </a:p>
                  </a:txBody>
                  <a:tcPr marL="54864" marR="54864" marT="27432" marB="27432" anchor="ctr">
                    <a:solidFill>
                      <a:srgbClr val="F2F2F2"/>
                    </a:solidFill>
                  </a:tcPr>
                </a:tc>
                <a:tc>
                  <a:txBody>
                    <a:bodyPr/>
                    <a:lstStyle/>
                    <a:p>
                      <a:r>
                        <a:rPr sz="1300" i="0">
                          <a:solidFill>
                            <a:srgbClr val="262626"/>
                          </a:solidFill>
                        </a:rPr>
                        <a:t>No</a:t>
                      </a:r>
                    </a:p>
                  </a:txBody>
                  <a:tcPr marL="54864" marR="54864" marT="27432" marB="27432" anchor="ctr">
                    <a:solidFill>
                      <a:srgbClr val="F8E0E0"/>
                    </a:solidFill>
                  </a:tcPr>
                </a:tc>
                <a:tc>
                  <a:txBody>
                    <a:bodyPr/>
                    <a:lstStyle/>
                    <a:p>
                      <a:r>
                        <a:rPr sz="1300" i="0">
                          <a:solidFill>
                            <a:srgbClr val="262626"/>
                          </a:solidFill>
                        </a:rPr>
                        <a:t>No</a:t>
                      </a:r>
                    </a:p>
                  </a:txBody>
                  <a:tcPr marL="54864" marR="54864" marT="27432" marB="27432" anchor="ctr">
                    <a:solidFill>
                      <a:srgbClr val="F8E0E0"/>
                    </a:solidFill>
                  </a:tcPr>
                </a:tc>
                <a:tc>
                  <a:txBody>
                    <a:bodyPr/>
                    <a:lstStyle/>
                    <a:p>
                      <a:r>
                        <a:rPr sz="1300" i="0">
                          <a:solidFill>
                            <a:srgbClr val="262626"/>
                          </a:solidFill>
                        </a:rPr>
                        <a:t>Only if present</a:t>
                      </a:r>
                    </a:p>
                  </a:txBody>
                  <a:tcPr marL="54864" marR="54864" marT="27432" marB="27432" anchor="ctr">
                    <a:solidFill>
                      <a:srgbClr val="FFF2CC"/>
                    </a:solidFill>
                  </a:tcPr>
                </a:tc>
                <a:tc>
                  <a:txBody>
                    <a:bodyPr/>
                    <a:lstStyle/>
                    <a:p>
                      <a:r>
                        <a:rPr sz="1300" i="0">
                          <a:solidFill>
                            <a:srgbClr val="262626"/>
                          </a:solidFill>
                        </a:rPr>
                        <a:t>No</a:t>
                      </a:r>
                    </a:p>
                  </a:txBody>
                  <a:tcPr marL="54864" marR="54864" marT="27432" marB="27432" anchor="ctr">
                    <a:solidFill>
                      <a:srgbClr val="F8E0E0"/>
                    </a:solidFill>
                  </a:tcPr>
                </a:tc>
                <a:tc>
                  <a:txBody>
                    <a:bodyPr/>
                    <a:lstStyle/>
                    <a:p>
                      <a:r>
                        <a:rPr sz="1300" b="1" i="0">
                          <a:solidFill>
                            <a:srgbClr val="262626"/>
                          </a:solidFill>
                        </a:rPr>
                        <a:t>Yes, after a 15-second countdown</a:t>
                      </a:r>
                    </a:p>
                  </a:txBody>
                  <a:tcPr marL="54864" marR="54864" marT="27432" marB="27432" anchor="ctr">
                    <a:solidFill>
                      <a:srgbClr val="E2F0D9"/>
                    </a:solidFill>
                  </a:tcPr>
                </a:tc>
                <a:extLst>
                  <a:ext uri="{0D108BD9-81ED-4DB2-BD59-A6C34878D82A}">
                    <a16:rowId xmlns:a16="http://schemas.microsoft.com/office/drawing/2014/main" val="10004"/>
                  </a:ext>
                </a:extLst>
              </a:tr>
              <a:tr h="658368">
                <a:tc>
                  <a:txBody>
                    <a:bodyPr/>
                    <a:lstStyle/>
                    <a:p>
                      <a:r>
                        <a:rPr sz="1300" b="1" i="0">
                          <a:solidFill>
                            <a:srgbClr val="262626"/>
                          </a:solidFill>
                        </a:rPr>
                        <a:t>Available without another person</a:t>
                      </a:r>
                    </a:p>
                  </a:txBody>
                  <a:tcPr marL="54864" marR="54864" marT="27432" marB="27432" anchor="ctr">
                    <a:solidFill>
                      <a:srgbClr val="F2F2F2"/>
                    </a:solidFill>
                  </a:tcPr>
                </a:tc>
                <a:tc>
                  <a:txBody>
                    <a:bodyPr/>
                    <a:lstStyle/>
                    <a:p>
                      <a:r>
                        <a:rPr sz="1300" i="0">
                          <a:solidFill>
                            <a:srgbClr val="262626"/>
                          </a:solidFill>
                        </a:rPr>
                        <a:t>Yes</a:t>
                      </a:r>
                    </a:p>
                  </a:txBody>
                  <a:tcPr marL="54864" marR="54864" marT="27432" marB="27432" anchor="ctr">
                    <a:solidFill>
                      <a:srgbClr val="E2F0D9"/>
                    </a:solidFill>
                  </a:tcPr>
                </a:tc>
                <a:tc>
                  <a:txBody>
                    <a:bodyPr/>
                    <a:lstStyle/>
                    <a:p>
                      <a:r>
                        <a:rPr sz="1300" i="0">
                          <a:solidFill>
                            <a:srgbClr val="262626"/>
                          </a:solidFill>
                        </a:rPr>
                        <a:t>Yes</a:t>
                      </a:r>
                    </a:p>
                  </a:txBody>
                  <a:tcPr marL="54864" marR="54864" marT="27432" marB="27432" anchor="ctr">
                    <a:solidFill>
                      <a:srgbClr val="E2F0D9"/>
                    </a:solidFill>
                  </a:tcPr>
                </a:tc>
                <a:tc>
                  <a:txBody>
                    <a:bodyPr/>
                    <a:lstStyle/>
                    <a:p>
                      <a:r>
                        <a:rPr sz="1300" i="0">
                          <a:solidFill>
                            <a:srgbClr val="262626"/>
                          </a:solidFill>
                        </a:rPr>
                        <a:t>No</a:t>
                      </a:r>
                    </a:p>
                  </a:txBody>
                  <a:tcPr marL="54864" marR="54864" marT="27432" marB="27432" anchor="ctr">
                    <a:solidFill>
                      <a:srgbClr val="F8E0E0"/>
                    </a:solidFill>
                  </a:tcPr>
                </a:tc>
                <a:tc>
                  <a:txBody>
                    <a:bodyPr/>
                    <a:lstStyle/>
                    <a:p>
                      <a:r>
                        <a:rPr sz="1300" i="0">
                          <a:solidFill>
                            <a:srgbClr val="262626"/>
                          </a:solidFill>
                        </a:rPr>
                        <a:t>Yes</a:t>
                      </a:r>
                    </a:p>
                  </a:txBody>
                  <a:tcPr marL="54864" marR="54864" marT="27432" marB="27432" anchor="ctr">
                    <a:solidFill>
                      <a:srgbClr val="E2F0D9"/>
                    </a:solidFill>
                  </a:tcPr>
                </a:tc>
                <a:tc>
                  <a:txBody>
                    <a:bodyPr/>
                    <a:lstStyle/>
                    <a:p>
                      <a:r>
                        <a:rPr sz="1300" b="1" i="0">
                          <a:solidFill>
                            <a:srgbClr val="262626"/>
                          </a:solidFill>
                        </a:rPr>
                        <a:t>Yes, in supported buildings</a:t>
                      </a:r>
                    </a:p>
                  </a:txBody>
                  <a:tcPr marL="54864" marR="54864" marT="27432" marB="27432" anchor="ctr">
                    <a:solidFill>
                      <a:srgbClr val="E2F0D9"/>
                    </a:solidFill>
                  </a:tcPr>
                </a:tc>
                <a:extLst>
                  <a:ext uri="{0D108BD9-81ED-4DB2-BD59-A6C34878D82A}">
                    <a16:rowId xmlns:a16="http://schemas.microsoft.com/office/drawing/2014/main" val="10005"/>
                  </a:ext>
                </a:extLst>
              </a:tr>
              <a:tr h="658368">
                <a:tc>
                  <a:txBody>
                    <a:bodyPr/>
                    <a:lstStyle/>
                    <a:p>
                      <a:r>
                        <a:rPr sz="1300" b="1" i="0">
                          <a:solidFill>
                            <a:srgbClr val="262626"/>
                          </a:solidFill>
                        </a:rPr>
                        <a:t>Cost to the user</a:t>
                      </a:r>
                    </a:p>
                  </a:txBody>
                  <a:tcPr marL="54864" marR="54864" marT="27432" marB="27432" anchor="ctr">
                    <a:solidFill>
                      <a:srgbClr val="F2F2F2"/>
                    </a:solidFill>
                  </a:tcPr>
                </a:tc>
                <a:tc>
                  <a:txBody>
                    <a:bodyPr/>
                    <a:lstStyle/>
                    <a:p>
                      <a:r>
                        <a:rPr sz="1300" i="0">
                          <a:solidFill>
                            <a:srgbClr val="262626"/>
                          </a:solidFill>
                        </a:rPr>
                        <a:t>Low</a:t>
                      </a:r>
                    </a:p>
                  </a:txBody>
                  <a:tcPr marL="54864" marR="54864" marT="27432" marB="27432" anchor="ctr">
                    <a:solidFill>
                      <a:srgbClr val="E2F0D9"/>
                    </a:solidFill>
                  </a:tcPr>
                </a:tc>
                <a:tc>
                  <a:txBody>
                    <a:bodyPr/>
                    <a:lstStyle/>
                    <a:p>
                      <a:r>
                        <a:rPr sz="1300" i="0">
                          <a:solidFill>
                            <a:srgbClr val="262626"/>
                          </a:solidFill>
                        </a:rPr>
                        <a:t>Long wait and ongoing care</a:t>
                      </a:r>
                    </a:p>
                  </a:txBody>
                  <a:tcPr marL="54864" marR="54864" marT="27432" marB="27432" anchor="ctr">
                    <a:solidFill>
                      <a:srgbClr val="FFF2CC"/>
                    </a:solidFill>
                  </a:tcPr>
                </a:tc>
                <a:tc>
                  <a:txBody>
                    <a:bodyPr/>
                    <a:lstStyle/>
                    <a:p>
                      <a:r>
                        <a:rPr sz="1300" i="0">
                          <a:solidFill>
                            <a:srgbClr val="262626"/>
                          </a:solidFill>
                        </a:rPr>
                        <a:t>Free, but relies on someone</a:t>
                      </a:r>
                    </a:p>
                  </a:txBody>
                  <a:tcPr marL="54864" marR="54864" marT="27432" marB="27432" anchor="ctr">
                    <a:solidFill>
                      <a:srgbClr val="FFF2CC"/>
                    </a:solidFill>
                  </a:tcPr>
                </a:tc>
                <a:tc>
                  <a:txBody>
                    <a:bodyPr/>
                    <a:lstStyle/>
                    <a:p>
                      <a:r>
                        <a:rPr sz="1300" i="0">
                          <a:solidFill>
                            <a:srgbClr val="262626"/>
                          </a:solidFill>
                        </a:rPr>
                        <a:t>Free</a:t>
                      </a:r>
                    </a:p>
                  </a:txBody>
                  <a:tcPr marL="54864" marR="54864" marT="27432" marB="27432" anchor="ctr">
                    <a:solidFill>
                      <a:srgbClr val="E2F0D9"/>
                    </a:solidFill>
                  </a:tcPr>
                </a:tc>
                <a:tc>
                  <a:txBody>
                    <a:bodyPr/>
                    <a:lstStyle/>
                    <a:p>
                      <a:r>
                        <a:rPr sz="1300" b="1" i="0">
                          <a:solidFill>
                            <a:srgbClr val="262626"/>
                          </a:solidFill>
                        </a:rPr>
                        <a:t>App on a supported phone</a:t>
                      </a:r>
                    </a:p>
                  </a:txBody>
                  <a:tcPr marL="54864" marR="54864" marT="27432" marB="27432" anchor="ctr">
                    <a:solidFill>
                      <a:srgbClr val="E2F0D9"/>
                    </a:solidFill>
                  </a:tcPr>
                </a:tc>
                <a:extLst>
                  <a:ext uri="{0D108BD9-81ED-4DB2-BD59-A6C34878D82A}">
                    <a16:rowId xmlns:a16="http://schemas.microsoft.com/office/drawing/2014/main" val="10006"/>
                  </a:ext>
                </a:extLst>
              </a:tr>
            </a:tbl>
          </a:graphicData>
        </a:graphic>
      </p:graphicFrame>
      <p:sp>
        <p:nvSpPr>
          <p:cNvPr id="4" name="Conclusion"/>
          <p:cNvSpPr/>
          <p:nvPr/>
        </p:nvSpPr>
        <p:spPr>
          <a:xfrm>
            <a:off x="530352" y="5760720"/>
            <a:ext cx="11128248" cy="777240"/>
          </a:xfrm>
          <a:prstGeom prst="roundRect">
            <a:avLst>
              <a:gd name="adj" fmla="val 8000"/>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5788152"/>
            <a:ext cx="10881360" cy="731520"/>
          </a:xfrm>
          <a:prstGeom prst="rect">
            <a:avLst/>
          </a:prstGeom>
          <a:noFill/>
        </p:spPr>
        <p:txBody>
          <a:bodyPr wrap="square" anchor="ctr">
            <a:spAutoFit/>
          </a:bodyPr>
          <a:lstStyle/>
          <a:p>
            <a:pPr algn="l">
              <a:spcAft>
                <a:spcPts val="600"/>
              </a:spcAft>
            </a:pPr>
            <a:r>
              <a:rPr sz="1500" b="0" i="0">
                <a:solidFill>
                  <a:srgbClr val="262626"/>
                </a:solidFill>
              </a:rPr>
              <a:t>Only THEIA has room-level indoor routes and fall alerts. Stevie would still use his cane or guide dog with it.</a:t>
            </a:r>
          </a:p>
        </p:txBody>
      </p:sp>
      <p:pic>
        <p:nvPicPr>
          <p:cNvPr id="21" name="Audio 20">
            <a:hlinkClick r:id="" action="ppaction://media"/>
            <a:extLst>
              <a:ext uri="{FF2B5EF4-FFF2-40B4-BE49-F238E27FC236}">
                <a16:creationId xmlns:a16="http://schemas.microsoft.com/office/drawing/2014/main" id="{4857F1B8-0B11-2F1A-77FC-AC83779699A6}"/>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87500" t="-287500" r="-287500" b="-287500"/>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48948"/>
    </mc:Choice>
    <mc:Fallback>
      <p:transition spd="slow" advTm="489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515</TotalTime>
  <Words>3440</Words>
  <Application>Microsoft Office PowerPoint</Application>
  <PresentationFormat>Widescreen</PresentationFormat>
  <Paragraphs>264</Paragraphs>
  <Slides>15</Slides>
  <Notes>15</Notes>
  <HiddenSlides>0</HiddenSlides>
  <MMClips>15</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Project THEIA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Kirthy Kolluri</dc:creator>
  <cp:lastModifiedBy>Evensen, Drew</cp:lastModifiedBy>
  <cp:revision>25</cp:revision>
  <dcterms:created xsi:type="dcterms:W3CDTF">2018-08-29T02:01:45Z</dcterms:created>
  <dcterms:modified xsi:type="dcterms:W3CDTF">2026-10-19T00:50:53Z</dcterms:modified>
</cp:coreProperties>
</file>